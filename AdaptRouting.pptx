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23"/>
  </p:notesMasterIdLst>
  <p:sldIdLst>
    <p:sldId id="273" r:id="rId2"/>
    <p:sldId id="257" r:id="rId3"/>
    <p:sldId id="258" r:id="rId4"/>
    <p:sldId id="259" r:id="rId5"/>
    <p:sldId id="260" r:id="rId6"/>
    <p:sldId id="261" r:id="rId7"/>
    <p:sldId id="267" r:id="rId8"/>
    <p:sldId id="266" r:id="rId9"/>
    <p:sldId id="265" r:id="rId10"/>
    <p:sldId id="268" r:id="rId11"/>
    <p:sldId id="272" r:id="rId12"/>
    <p:sldId id="269" r:id="rId13"/>
    <p:sldId id="274" r:id="rId14"/>
    <p:sldId id="271" r:id="rId15"/>
    <p:sldId id="275" r:id="rId16"/>
    <p:sldId id="263" r:id="rId17"/>
    <p:sldId id="276" r:id="rId18"/>
    <p:sldId id="264" r:id="rId19"/>
    <p:sldId id="270" r:id="rId20"/>
    <p:sldId id="277" r:id="rId21"/>
    <p:sldId id="278" r:id="rId2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96"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58013dee9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58013dee9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5671a1dfe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5671a1dfe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568128a8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568128a8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56948cd33b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56948cd33b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58297f165c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58297f165c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58297f165c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58297f165c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Minimizing (1) while satisfying all traffic constraints is NP-complete problem.</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535211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58297f165c_1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58297f165c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03086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58297f165c_1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58297f165c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67295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021734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58167dac3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58167dac3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5671a1dfed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5671a1dfed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5671a1dfed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5671a1dfed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97071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607DD-B114-4FA1-880C-9D92B034D729}"/>
              </a:ext>
            </a:extLst>
          </p:cNvPr>
          <p:cNvSpPr>
            <a:spLocks noGrp="1"/>
          </p:cNvSpPr>
          <p:nvPr>
            <p:ph type="ctrTitle"/>
          </p:nvPr>
        </p:nvSpPr>
        <p:spPr/>
        <p:txBody>
          <a:bodyPr/>
          <a:lstStyle/>
          <a:p>
            <a:r>
              <a:rPr lang="en-US" sz="3200" b="1" dirty="0"/>
              <a:t>Adaptive Routing for Saving Energy of Random shortcut Networks using Deep Reinforcement Learning</a:t>
            </a:r>
            <a:endParaRPr lang="en-US" sz="3200" dirty="0"/>
          </a:p>
        </p:txBody>
      </p:sp>
      <p:sp>
        <p:nvSpPr>
          <p:cNvPr id="3" name="Subtitle 2">
            <a:extLst>
              <a:ext uri="{FF2B5EF4-FFF2-40B4-BE49-F238E27FC236}">
                <a16:creationId xmlns:a16="http://schemas.microsoft.com/office/drawing/2014/main" id="{187763EB-539A-4036-B681-9CE1F60D05B1}"/>
              </a:ext>
            </a:extLst>
          </p:cNvPr>
          <p:cNvSpPr>
            <a:spLocks noGrp="1"/>
          </p:cNvSpPr>
          <p:nvPr>
            <p:ph type="subTitle" idx="1"/>
          </p:nvPr>
        </p:nvSpPr>
        <p:spPr/>
        <p:txBody>
          <a:bodyPr/>
          <a:lstStyle/>
          <a:p>
            <a:r>
              <a:rPr lang="en-US" dirty="0"/>
              <a:t>Nguyen Tien Thanh</a:t>
            </a:r>
          </a:p>
        </p:txBody>
      </p:sp>
    </p:spTree>
    <p:extLst>
      <p:ext uri="{BB962C8B-B14F-4D97-AF65-F5344CB8AC3E}">
        <p14:creationId xmlns:p14="http://schemas.microsoft.com/office/powerpoint/2010/main" val="131461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1800" b="1">
                <a:solidFill>
                  <a:schemeClr val="dk2"/>
                </a:solidFill>
              </a:rPr>
              <a:t>Abstract</a:t>
            </a:r>
            <a:endParaRPr b="1"/>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GB" dirty="0"/>
              <a:t>Random shortcut network has better scalability, smaller diameter and lower latency when compared to regular network topologies. But this topology still has question about saving its energy, both at simulation and prototype. In this proposal, I propose a deep reinforcement learning for routing optimization approach. This routing approach chooses subset of network to stay active and then turns off redundant links and ports. I hope my proposal not only saves up to 50% of network energy but also minimizes network delay, maximizes fault tolerant ability and </a:t>
            </a:r>
            <a:r>
              <a:rPr lang="en-GB"/>
              <a:t>therefore justifies </a:t>
            </a:r>
            <a:r>
              <a:rPr lang="en-GB" dirty="0"/>
              <a:t>using random shortcut topology.</a:t>
            </a:r>
            <a:endParaRPr dirty="0"/>
          </a:p>
        </p:txBody>
      </p:sp>
      <p:sp>
        <p:nvSpPr>
          <p:cNvPr id="62" name="Google Shape;62;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Introduction (1)</a:t>
            </a:r>
            <a:endParaRPr dirty="0"/>
          </a:p>
        </p:txBody>
      </p:sp>
      <p:sp>
        <p:nvSpPr>
          <p:cNvPr id="68" name="Google Shape;68;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dirty="0"/>
              <a:t>Random shortcut network has better scalability, smaller diameter, lower latency when compared to regular network topologies [5]. </a:t>
            </a:r>
            <a:endParaRPr dirty="0"/>
          </a:p>
          <a:p>
            <a:pPr marL="0" lvl="0" indent="0" algn="l" rtl="0">
              <a:spcBef>
                <a:spcPts val="1600"/>
              </a:spcBef>
              <a:spcAft>
                <a:spcPts val="0"/>
              </a:spcAft>
              <a:buClr>
                <a:schemeClr val="dk1"/>
              </a:buClr>
              <a:buSzPts val="1100"/>
              <a:buFont typeface="Arial"/>
              <a:buNone/>
            </a:pPr>
            <a:r>
              <a:rPr lang="en-GB" dirty="0"/>
              <a:t>But it has question about saving energy, both at simulation and prototype.</a:t>
            </a:r>
            <a:endParaRPr dirty="0"/>
          </a:p>
          <a:p>
            <a:pPr marL="0" lvl="0" indent="0" algn="l" rtl="0">
              <a:spcBef>
                <a:spcPts val="1600"/>
              </a:spcBef>
              <a:spcAft>
                <a:spcPts val="0"/>
              </a:spcAft>
              <a:buNone/>
            </a:pPr>
            <a:r>
              <a:rPr lang="en-GB" dirty="0"/>
              <a:t>Network devices consume up to 15% of data </a:t>
            </a:r>
            <a:r>
              <a:rPr lang="en-GB" dirty="0" err="1"/>
              <a:t>center’s</a:t>
            </a:r>
            <a:r>
              <a:rPr lang="en-GB" dirty="0"/>
              <a:t> energy [1]. </a:t>
            </a:r>
            <a:endParaRPr dirty="0"/>
          </a:p>
          <a:p>
            <a:pPr marL="0" lvl="0" indent="0" algn="l" rtl="0">
              <a:spcBef>
                <a:spcPts val="1600"/>
              </a:spcBef>
              <a:spcAft>
                <a:spcPts val="0"/>
              </a:spcAft>
              <a:buClr>
                <a:schemeClr val="dk1"/>
              </a:buClr>
              <a:buSzPts val="1100"/>
              <a:buFont typeface="Arial"/>
              <a:buNone/>
            </a:pPr>
            <a:endParaRPr dirty="0"/>
          </a:p>
          <a:p>
            <a:pPr marL="0" lvl="0" indent="0" algn="l" rtl="0">
              <a:spcBef>
                <a:spcPts val="1600"/>
              </a:spcBef>
              <a:spcAft>
                <a:spcPts val="0"/>
              </a:spcAft>
              <a:buClr>
                <a:schemeClr val="dk1"/>
              </a:buClr>
              <a:buSzPts val="1100"/>
              <a:buFont typeface="Arial"/>
              <a:buNone/>
            </a:pPr>
            <a:endParaRPr dirty="0"/>
          </a:p>
          <a:p>
            <a:pPr marL="0" lvl="0" indent="0" algn="l" rtl="0">
              <a:spcBef>
                <a:spcPts val="1600"/>
              </a:spcBef>
              <a:spcAft>
                <a:spcPts val="0"/>
              </a:spcAft>
              <a:buClr>
                <a:schemeClr val="dk1"/>
              </a:buClr>
              <a:buSzPts val="1100"/>
              <a:buFont typeface="Arial"/>
              <a:buNone/>
            </a:pPr>
            <a:endParaRPr dirty="0"/>
          </a:p>
          <a:p>
            <a:pPr marL="0" lvl="0" indent="0" algn="l" rtl="0">
              <a:spcBef>
                <a:spcPts val="1600"/>
              </a:spcBef>
              <a:spcAft>
                <a:spcPts val="1600"/>
              </a:spcAft>
              <a:buClr>
                <a:schemeClr val="dk1"/>
              </a:buClr>
              <a:buSzPts val="1100"/>
              <a:buFont typeface="Arial"/>
              <a:buNone/>
            </a:pPr>
            <a:endParaRPr dirty="0"/>
          </a:p>
        </p:txBody>
      </p:sp>
      <p:pic>
        <p:nvPicPr>
          <p:cNvPr id="69" name="Google Shape;69;p15"/>
          <p:cNvPicPr preferRelativeResize="0"/>
          <p:nvPr/>
        </p:nvPicPr>
        <p:blipFill>
          <a:blip r:embed="rId3">
            <a:alphaModFix/>
          </a:blip>
          <a:stretch>
            <a:fillRect/>
          </a:stretch>
        </p:blipFill>
        <p:spPr>
          <a:xfrm>
            <a:off x="1290625" y="3014533"/>
            <a:ext cx="6562725" cy="1554330"/>
          </a:xfrm>
          <a:prstGeom prst="rect">
            <a:avLst/>
          </a:prstGeom>
          <a:noFill/>
          <a:ln>
            <a:noFill/>
          </a:ln>
        </p:spPr>
      </p:pic>
      <p:sp>
        <p:nvSpPr>
          <p:cNvPr id="70" name="Google Shape;70;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Introduction (2)</a:t>
            </a:r>
            <a:endParaRPr dirty="0"/>
          </a:p>
        </p:txBody>
      </p:sp>
      <p:sp>
        <p:nvSpPr>
          <p:cNvPr id="76" name="Google Shape;76;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IEEE Energy Efficient Ethernet standard (IEEE 802.3az) proposes power-saving mechanism by turning on/off links in a few microseconds [6]</a:t>
            </a:r>
            <a:endParaRPr dirty="0"/>
          </a:p>
          <a:p>
            <a:pPr marL="0" lvl="0" indent="0" algn="l" rtl="0">
              <a:spcBef>
                <a:spcPts val="1600"/>
              </a:spcBef>
              <a:spcAft>
                <a:spcPts val="0"/>
              </a:spcAft>
              <a:buNone/>
            </a:pPr>
            <a:r>
              <a:rPr lang="en-GB" dirty="0"/>
              <a:t>Given the recent advancement of IEEE 802.3az, a question arises how to choose a subset of network that can still route data to all nodes. </a:t>
            </a:r>
            <a:endParaRPr dirty="0"/>
          </a:p>
          <a:p>
            <a:pPr marL="0" lvl="0" indent="0" algn="l" rtl="0">
              <a:spcBef>
                <a:spcPts val="1600"/>
              </a:spcBef>
              <a:spcAft>
                <a:spcPts val="0"/>
              </a:spcAft>
              <a:buNone/>
            </a:pPr>
            <a:r>
              <a:rPr lang="en-GB" dirty="0"/>
              <a:t>Many approaches concentrate on saving energy of torus [2], Fat Tree [3] or both of them [4] by turning off redundant links and ports.</a:t>
            </a:r>
            <a:endParaRPr dirty="0"/>
          </a:p>
          <a:p>
            <a:pPr marL="0" lvl="0" indent="0" algn="l" rtl="0">
              <a:spcBef>
                <a:spcPts val="1600"/>
              </a:spcBef>
              <a:spcAft>
                <a:spcPts val="0"/>
              </a:spcAft>
              <a:buClr>
                <a:schemeClr val="dk1"/>
              </a:buClr>
              <a:buSzPts val="1100"/>
              <a:buFont typeface="Arial"/>
              <a:buNone/>
            </a:pPr>
            <a:r>
              <a:rPr lang="en-GB" dirty="0"/>
              <a:t>Finding optimal traffic routing solution (that satisfies traffic constraints) is a NP-complete problem [3]</a:t>
            </a:r>
            <a:endParaRPr dirty="0"/>
          </a:p>
          <a:p>
            <a:pPr marL="0" lvl="0" indent="0" algn="l" rtl="0">
              <a:spcBef>
                <a:spcPts val="1600"/>
              </a:spcBef>
              <a:spcAft>
                <a:spcPts val="1600"/>
              </a:spcAft>
              <a:buNone/>
            </a:pPr>
            <a:endParaRPr dirty="0"/>
          </a:p>
        </p:txBody>
      </p:sp>
      <p:sp>
        <p:nvSpPr>
          <p:cNvPr id="77" name="Google Shape;7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Content</a:t>
            </a:r>
            <a:endParaRPr/>
          </a:p>
        </p:txBody>
      </p:sp>
      <p:sp>
        <p:nvSpPr>
          <p:cNvPr id="83" name="Google Shape;83;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en-GB" dirty="0"/>
              <a:t>Introduction</a:t>
            </a:r>
            <a:endParaRPr dirty="0"/>
          </a:p>
          <a:p>
            <a:pPr marL="457200" lvl="0" indent="-342900" algn="l" rtl="0">
              <a:spcBef>
                <a:spcPts val="0"/>
              </a:spcBef>
              <a:spcAft>
                <a:spcPts val="0"/>
              </a:spcAft>
              <a:buSzPts val="1800"/>
              <a:buAutoNum type="arabicPeriod"/>
            </a:pPr>
            <a:r>
              <a:rPr lang="en-GB" dirty="0"/>
              <a:t>Background</a:t>
            </a:r>
            <a:endParaRPr dirty="0"/>
          </a:p>
          <a:p>
            <a:pPr marL="914400" lvl="1" indent="-317500" algn="l" rtl="0">
              <a:spcBef>
                <a:spcPts val="0"/>
              </a:spcBef>
              <a:spcAft>
                <a:spcPts val="0"/>
              </a:spcAft>
              <a:buSzPts val="1400"/>
              <a:buAutoNum type="alphaLcPeriod"/>
            </a:pPr>
            <a:r>
              <a:rPr lang="en-GB" dirty="0"/>
              <a:t>NP-Complete and formal method</a:t>
            </a:r>
            <a:endParaRPr dirty="0"/>
          </a:p>
          <a:p>
            <a:pPr marL="914400" lvl="1" indent="-317500" algn="l" rtl="0">
              <a:spcBef>
                <a:spcPts val="0"/>
              </a:spcBef>
              <a:spcAft>
                <a:spcPts val="0"/>
              </a:spcAft>
              <a:buSzPts val="1400"/>
              <a:buAutoNum type="alphaLcPeriod"/>
            </a:pPr>
            <a:r>
              <a:rPr lang="en-GB" dirty="0"/>
              <a:t>Software Defined Network</a:t>
            </a:r>
            <a:endParaRPr dirty="0"/>
          </a:p>
          <a:p>
            <a:pPr marL="914400" lvl="1" indent="-317500" algn="l" rtl="0">
              <a:spcBef>
                <a:spcPts val="0"/>
              </a:spcBef>
              <a:spcAft>
                <a:spcPts val="0"/>
              </a:spcAft>
              <a:buSzPts val="1400"/>
              <a:buAutoNum type="alphaLcPeriod"/>
            </a:pPr>
            <a:r>
              <a:rPr lang="en-GB" dirty="0"/>
              <a:t>Machine learning</a:t>
            </a:r>
            <a:endParaRPr dirty="0"/>
          </a:p>
          <a:p>
            <a:pPr marL="457200" lvl="0" indent="-342900" algn="l" rtl="0">
              <a:spcBef>
                <a:spcPts val="0"/>
              </a:spcBef>
              <a:spcAft>
                <a:spcPts val="0"/>
              </a:spcAft>
              <a:buSzPts val="1800"/>
              <a:buAutoNum type="arabicPeriod"/>
            </a:pPr>
            <a:r>
              <a:rPr lang="en-US" dirty="0"/>
              <a:t>Problem</a:t>
            </a:r>
            <a:endParaRPr dirty="0"/>
          </a:p>
          <a:p>
            <a:pPr marL="457200" lvl="0" indent="-342900" algn="l" rtl="0">
              <a:spcBef>
                <a:spcPts val="0"/>
              </a:spcBef>
              <a:spcAft>
                <a:spcPts val="0"/>
              </a:spcAft>
              <a:buSzPts val="1800"/>
              <a:buAutoNum type="arabicPeriod"/>
            </a:pPr>
            <a:r>
              <a:rPr lang="en-GB" dirty="0"/>
              <a:t>Related Work</a:t>
            </a:r>
            <a:endParaRPr dirty="0"/>
          </a:p>
          <a:p>
            <a:pPr marL="457200" lvl="0" indent="-342900" algn="l" rtl="0">
              <a:spcBef>
                <a:spcPts val="0"/>
              </a:spcBef>
              <a:spcAft>
                <a:spcPts val="0"/>
              </a:spcAft>
              <a:buSzPts val="1800"/>
              <a:buAutoNum type="arabicPeriod"/>
            </a:pPr>
            <a:r>
              <a:rPr lang="en-GB" dirty="0"/>
              <a:t>Conclusion</a:t>
            </a:r>
            <a:endParaRPr dirty="0"/>
          </a:p>
        </p:txBody>
      </p:sp>
      <p:sp>
        <p:nvSpPr>
          <p:cNvPr id="84" name="Google Shape;84;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2. Background </a:t>
            </a:r>
            <a:endParaRPr dirty="0"/>
          </a:p>
        </p:txBody>
      </p:sp>
      <p:sp>
        <p:nvSpPr>
          <p:cNvPr id="90" name="Google Shape;90;p18"/>
          <p:cNvSpPr txBox="1">
            <a:spLocks noGrp="1"/>
          </p:cNvSpPr>
          <p:nvPr>
            <p:ph type="body" idx="1"/>
          </p:nvPr>
        </p:nvSpPr>
        <p:spPr>
          <a:xfrm>
            <a:off x="311700" y="1152475"/>
            <a:ext cx="8520600" cy="390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2.1 NP-complete and formal method</a:t>
            </a:r>
            <a:endParaRPr dirty="0"/>
          </a:p>
          <a:p>
            <a:pPr marL="0" lvl="0" indent="0" algn="l" rtl="0">
              <a:spcBef>
                <a:spcPts val="1600"/>
              </a:spcBef>
              <a:spcAft>
                <a:spcPts val="0"/>
              </a:spcAft>
              <a:buNone/>
            </a:pPr>
            <a:r>
              <a:rPr lang="en-GB" dirty="0"/>
              <a:t>Heller </a:t>
            </a:r>
            <a:r>
              <a:rPr lang="en-US" dirty="0"/>
              <a:t>[3] </a:t>
            </a:r>
            <a:r>
              <a:rPr lang="en-GB" dirty="0"/>
              <a:t>modelled total network energy consumption:</a:t>
            </a:r>
            <a:endParaRPr dirty="0"/>
          </a:p>
          <a:p>
            <a:pPr marL="0" lvl="0" indent="0" algn="l" rtl="0">
              <a:spcBef>
                <a:spcPts val="1600"/>
              </a:spcBef>
              <a:spcAft>
                <a:spcPts val="0"/>
              </a:spcAft>
              <a:buNone/>
            </a:pPr>
            <a:r>
              <a:rPr lang="en-GB" dirty="0"/>
              <a:t>                                                                               (1)</a:t>
            </a:r>
            <a:endParaRPr dirty="0"/>
          </a:p>
          <a:p>
            <a:pPr marL="0" lvl="0" indent="0" algn="l" rtl="0">
              <a:spcBef>
                <a:spcPts val="1600"/>
              </a:spcBef>
              <a:spcAft>
                <a:spcPts val="0"/>
              </a:spcAft>
              <a:buNone/>
            </a:pPr>
            <a:r>
              <a:rPr lang="en-GB" dirty="0">
                <a:solidFill>
                  <a:schemeClr val="bg1"/>
                </a:solidFill>
              </a:rPr>
              <a:t>Minimizing (1) while satisfying all traffic constraints is NP-complete problem.</a:t>
            </a:r>
            <a:endParaRPr dirty="0">
              <a:solidFill>
                <a:schemeClr val="bg1"/>
              </a:solidFill>
            </a:endParaRPr>
          </a:p>
          <a:p>
            <a:pPr marL="0" lvl="0" indent="0" algn="l" rtl="0">
              <a:spcBef>
                <a:spcPts val="1600"/>
              </a:spcBef>
              <a:spcAft>
                <a:spcPts val="0"/>
              </a:spcAft>
              <a:buNone/>
            </a:pPr>
            <a:r>
              <a:rPr lang="en-GB" dirty="0">
                <a:solidFill>
                  <a:schemeClr val="bg1"/>
                </a:solidFill>
              </a:rPr>
              <a:t>Authors proposed a formal method in order to produce solutions closest to optimal but this method has complexity O(n</a:t>
            </a:r>
            <a:r>
              <a:rPr lang="en-GB" baseline="30000" dirty="0">
                <a:solidFill>
                  <a:schemeClr val="bg1"/>
                </a:solidFill>
              </a:rPr>
              <a:t>3.5</a:t>
            </a:r>
            <a:r>
              <a:rPr lang="en-GB" dirty="0">
                <a:solidFill>
                  <a:schemeClr val="bg1"/>
                </a:solidFill>
              </a:rPr>
              <a:t>).</a:t>
            </a:r>
            <a:endParaRPr dirty="0">
              <a:solidFill>
                <a:schemeClr val="bg1"/>
              </a:solidFill>
            </a:endParaRPr>
          </a:p>
          <a:p>
            <a:pPr marL="0" lvl="0" indent="0" algn="l" rtl="0">
              <a:spcBef>
                <a:spcPts val="1600"/>
              </a:spcBef>
              <a:spcAft>
                <a:spcPts val="1600"/>
              </a:spcAft>
              <a:buNone/>
            </a:pPr>
            <a:r>
              <a:rPr lang="en-GB" dirty="0">
                <a:solidFill>
                  <a:schemeClr val="bg1"/>
                </a:solidFill>
              </a:rPr>
              <a:t>Authors then proposed two heuristic methods with complexities O(n</a:t>
            </a:r>
            <a:r>
              <a:rPr lang="en-GB" baseline="30000" dirty="0">
                <a:solidFill>
                  <a:schemeClr val="bg1"/>
                </a:solidFill>
              </a:rPr>
              <a:t>2</a:t>
            </a:r>
            <a:r>
              <a:rPr lang="en-GB" dirty="0">
                <a:solidFill>
                  <a:schemeClr val="bg1"/>
                </a:solidFill>
              </a:rPr>
              <a:t>) and O(n) respectively.</a:t>
            </a:r>
            <a:endParaRPr dirty="0">
              <a:solidFill>
                <a:schemeClr val="bg1"/>
              </a:solidFill>
            </a:endParaRPr>
          </a:p>
        </p:txBody>
      </p:sp>
      <p:sp>
        <p:nvSpPr>
          <p:cNvPr id="91" name="Google Shape;91;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6</a:t>
            </a:fld>
            <a:endParaRPr/>
          </a:p>
        </p:txBody>
      </p:sp>
      <p:pic>
        <p:nvPicPr>
          <p:cNvPr id="92" name="Google Shape;92;p18"/>
          <p:cNvPicPr preferRelativeResize="0"/>
          <p:nvPr/>
        </p:nvPicPr>
        <p:blipFill>
          <a:blip r:embed="rId3">
            <a:alphaModFix/>
          </a:blip>
          <a:stretch>
            <a:fillRect/>
          </a:stretch>
        </p:blipFill>
        <p:spPr>
          <a:xfrm>
            <a:off x="2154444" y="2065740"/>
            <a:ext cx="3049734" cy="846793"/>
          </a:xfrm>
          <a:prstGeom prst="rect">
            <a:avLst/>
          </a:prstGeom>
          <a:noFill/>
          <a:ln>
            <a:noFill/>
          </a:ln>
        </p:spPr>
      </p:pic>
      <p:pic>
        <p:nvPicPr>
          <p:cNvPr id="3" name="Picture 2">
            <a:extLst>
              <a:ext uri="{FF2B5EF4-FFF2-40B4-BE49-F238E27FC236}">
                <a16:creationId xmlns:a16="http://schemas.microsoft.com/office/drawing/2014/main" id="{77A41FB4-CE21-452A-84AA-8F5E96E5186C}"/>
              </a:ext>
            </a:extLst>
          </p:cNvPr>
          <p:cNvPicPr>
            <a:picLocks noChangeAspect="1"/>
          </p:cNvPicPr>
          <p:nvPr/>
        </p:nvPicPr>
        <p:blipFill>
          <a:blip r:embed="rId4"/>
          <a:stretch>
            <a:fillRect/>
          </a:stretch>
        </p:blipFill>
        <p:spPr>
          <a:xfrm>
            <a:off x="1670754" y="2854080"/>
            <a:ext cx="5091995" cy="200593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2. Background (2)</a:t>
            </a:r>
            <a:endParaRPr dirty="0"/>
          </a:p>
        </p:txBody>
      </p:sp>
      <p:sp>
        <p:nvSpPr>
          <p:cNvPr id="90" name="Google Shape;90;p18"/>
          <p:cNvSpPr txBox="1">
            <a:spLocks noGrp="1"/>
          </p:cNvSpPr>
          <p:nvPr>
            <p:ph type="body" idx="1"/>
          </p:nvPr>
        </p:nvSpPr>
        <p:spPr>
          <a:xfrm>
            <a:off x="311700" y="1152475"/>
            <a:ext cx="8520600" cy="390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2.1 NP-complete and formal method</a:t>
            </a:r>
            <a:endParaRPr dirty="0"/>
          </a:p>
          <a:p>
            <a:pPr marL="0" lvl="0" indent="0" algn="l" rtl="0">
              <a:spcBef>
                <a:spcPts val="1600"/>
              </a:spcBef>
              <a:spcAft>
                <a:spcPts val="0"/>
              </a:spcAft>
              <a:buNone/>
            </a:pPr>
            <a:r>
              <a:rPr lang="en-GB" dirty="0"/>
              <a:t>Heller </a:t>
            </a:r>
            <a:r>
              <a:rPr lang="en-US" dirty="0"/>
              <a:t>[3] </a:t>
            </a:r>
            <a:r>
              <a:rPr lang="en-GB" dirty="0"/>
              <a:t>modelled total network energy consumption:</a:t>
            </a:r>
            <a:endParaRPr dirty="0"/>
          </a:p>
          <a:p>
            <a:pPr marL="0" lvl="0" indent="0" algn="l" rtl="0">
              <a:spcBef>
                <a:spcPts val="1600"/>
              </a:spcBef>
              <a:spcAft>
                <a:spcPts val="0"/>
              </a:spcAft>
              <a:buNone/>
            </a:pPr>
            <a:r>
              <a:rPr lang="en-GB" dirty="0"/>
              <a:t>                                                                               (1)</a:t>
            </a:r>
            <a:endParaRPr dirty="0"/>
          </a:p>
          <a:p>
            <a:pPr marL="0" lvl="0" indent="0" algn="l" rtl="0">
              <a:spcBef>
                <a:spcPts val="1600"/>
              </a:spcBef>
              <a:spcAft>
                <a:spcPts val="0"/>
              </a:spcAft>
              <a:buNone/>
            </a:pPr>
            <a:endParaRPr lang="en-GB" dirty="0"/>
          </a:p>
          <a:p>
            <a:pPr marL="0" lvl="0" indent="0">
              <a:spcBef>
                <a:spcPts val="600"/>
              </a:spcBef>
              <a:buNone/>
            </a:pPr>
            <a:r>
              <a:rPr lang="en-GB" dirty="0"/>
              <a:t>Authors proposed a formal method (based on</a:t>
            </a:r>
            <a:r>
              <a:rPr lang="en-US" dirty="0"/>
              <a:t> linear optimization solvers like GLPK and CPLEX)</a:t>
            </a:r>
            <a:r>
              <a:rPr lang="en-GB" dirty="0"/>
              <a:t> to produce solutions closest to optimal but this method has complexity O(n</a:t>
            </a:r>
            <a:r>
              <a:rPr lang="en-GB" baseline="30000" dirty="0"/>
              <a:t>3.5</a:t>
            </a:r>
            <a:r>
              <a:rPr lang="en-GB" dirty="0"/>
              <a:t>).</a:t>
            </a:r>
            <a:endParaRPr dirty="0"/>
          </a:p>
          <a:p>
            <a:pPr marL="0" lvl="0" indent="0" algn="l" rtl="0">
              <a:spcBef>
                <a:spcPts val="600"/>
              </a:spcBef>
              <a:spcAft>
                <a:spcPts val="1600"/>
              </a:spcAft>
              <a:buNone/>
            </a:pPr>
            <a:r>
              <a:rPr lang="en-GB" dirty="0"/>
              <a:t>Authors then proposed two heuristic methods with complexities O(n</a:t>
            </a:r>
            <a:r>
              <a:rPr lang="en-GB" baseline="30000" dirty="0"/>
              <a:t>2</a:t>
            </a:r>
            <a:r>
              <a:rPr lang="en-GB" dirty="0"/>
              <a:t>) and O(n) respectively.</a:t>
            </a:r>
            <a:endParaRPr dirty="0"/>
          </a:p>
        </p:txBody>
      </p:sp>
      <p:sp>
        <p:nvSpPr>
          <p:cNvPr id="91" name="Google Shape;91;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7</a:t>
            </a:fld>
            <a:endParaRPr/>
          </a:p>
        </p:txBody>
      </p:sp>
      <p:pic>
        <p:nvPicPr>
          <p:cNvPr id="7" name="Google Shape;92;p18">
            <a:extLst>
              <a:ext uri="{FF2B5EF4-FFF2-40B4-BE49-F238E27FC236}">
                <a16:creationId xmlns:a16="http://schemas.microsoft.com/office/drawing/2014/main" id="{022C2E0F-06BB-4D45-8DD2-11A1901F384E}"/>
              </a:ext>
            </a:extLst>
          </p:cNvPr>
          <p:cNvPicPr preferRelativeResize="0"/>
          <p:nvPr/>
        </p:nvPicPr>
        <p:blipFill>
          <a:blip r:embed="rId3">
            <a:alphaModFix/>
          </a:blip>
          <a:stretch>
            <a:fillRect/>
          </a:stretch>
        </p:blipFill>
        <p:spPr>
          <a:xfrm>
            <a:off x="2154444" y="2065740"/>
            <a:ext cx="3049734" cy="846793"/>
          </a:xfrm>
          <a:prstGeom prst="rect">
            <a:avLst/>
          </a:prstGeom>
          <a:noFill/>
          <a:ln>
            <a:noFill/>
          </a:ln>
        </p:spPr>
      </p:pic>
    </p:spTree>
    <p:extLst>
      <p:ext uri="{BB962C8B-B14F-4D97-AF65-F5344CB8AC3E}">
        <p14:creationId xmlns:p14="http://schemas.microsoft.com/office/powerpoint/2010/main" val="563630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sz="1800">
                <a:solidFill>
                  <a:schemeClr val="dk2"/>
                </a:solidFill>
              </a:rPr>
              <a:t>2.1 NP-complete and formal method</a:t>
            </a:r>
            <a:endParaRPr sz="1800">
              <a:solidFill>
                <a:schemeClr val="dk2"/>
              </a:solidFill>
            </a:endParaRPr>
          </a:p>
          <a:p>
            <a:pPr marL="0" lvl="0" indent="0" algn="l" rtl="0">
              <a:spcBef>
                <a:spcPts val="1600"/>
              </a:spcBef>
              <a:spcAft>
                <a:spcPts val="0"/>
              </a:spcAft>
              <a:buNone/>
            </a:pPr>
            <a:endParaRPr/>
          </a:p>
        </p:txBody>
      </p:sp>
      <p:sp>
        <p:nvSpPr>
          <p:cNvPr id="98" name="Google Shape;98;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lang="en-US" dirty="0"/>
          </a:p>
          <a:p>
            <a:pPr marL="0" lvl="0" indent="0" algn="l" rtl="0">
              <a:spcBef>
                <a:spcPts val="0"/>
              </a:spcBef>
              <a:spcAft>
                <a:spcPts val="1600"/>
              </a:spcAft>
              <a:buNone/>
            </a:pPr>
            <a:endParaRPr lang="en-US" dirty="0"/>
          </a:p>
          <a:p>
            <a:pPr marL="0" lvl="0" indent="0" algn="l" rtl="0">
              <a:spcBef>
                <a:spcPts val="0"/>
              </a:spcBef>
              <a:spcAft>
                <a:spcPts val="1600"/>
              </a:spcAft>
              <a:buNone/>
            </a:pPr>
            <a:endParaRPr lang="en-US" dirty="0"/>
          </a:p>
          <a:p>
            <a:pPr marL="0" lvl="0" indent="0" algn="l" rtl="0">
              <a:spcBef>
                <a:spcPts val="0"/>
              </a:spcBef>
              <a:spcAft>
                <a:spcPts val="1600"/>
              </a:spcAft>
              <a:buNone/>
            </a:pPr>
            <a:endParaRPr lang="en-US" dirty="0"/>
          </a:p>
          <a:p>
            <a:pPr marL="0" lvl="0" indent="0">
              <a:spcAft>
                <a:spcPts val="1600"/>
              </a:spcAft>
              <a:buNone/>
            </a:pPr>
            <a:br>
              <a:rPr lang="en-US" dirty="0"/>
            </a:br>
            <a:endParaRPr lang="en-US" dirty="0"/>
          </a:p>
          <a:p>
            <a:pPr marL="0" lvl="0" indent="0" algn="l" rtl="0">
              <a:spcBef>
                <a:spcPts val="0"/>
              </a:spcBef>
              <a:spcAft>
                <a:spcPts val="1600"/>
              </a:spcAft>
              <a:buNone/>
            </a:pPr>
            <a:endParaRPr dirty="0"/>
          </a:p>
        </p:txBody>
      </p:sp>
      <p:sp>
        <p:nvSpPr>
          <p:cNvPr id="99" name="Google Shape;99;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8</a:t>
            </a:fld>
            <a:endParaRPr/>
          </a:p>
        </p:txBody>
      </p:sp>
      <p:pic>
        <p:nvPicPr>
          <p:cNvPr id="100" name="Google Shape;100;p19"/>
          <p:cNvPicPr preferRelativeResize="0"/>
          <p:nvPr/>
        </p:nvPicPr>
        <p:blipFill>
          <a:blip r:embed="rId3">
            <a:alphaModFix/>
          </a:blip>
          <a:stretch>
            <a:fillRect/>
          </a:stretch>
        </p:blipFill>
        <p:spPr>
          <a:xfrm>
            <a:off x="533850" y="847672"/>
            <a:ext cx="7938600" cy="2074050"/>
          </a:xfrm>
          <a:prstGeom prst="rect">
            <a:avLst/>
          </a:prstGeom>
          <a:noFill/>
          <a:ln>
            <a:noFill/>
          </a:ln>
        </p:spPr>
      </p:pic>
    </p:spTree>
    <p:extLst>
      <p:ext uri="{BB962C8B-B14F-4D97-AF65-F5344CB8AC3E}">
        <p14:creationId xmlns:p14="http://schemas.microsoft.com/office/powerpoint/2010/main" val="1633131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sz="1800" dirty="0">
                <a:solidFill>
                  <a:schemeClr val="dk2"/>
                </a:solidFill>
              </a:rPr>
              <a:t>2.1 NP-complete and formal method (2)</a:t>
            </a:r>
            <a:endParaRPr sz="1800" dirty="0">
              <a:solidFill>
                <a:schemeClr val="dk2"/>
              </a:solidFill>
            </a:endParaRPr>
          </a:p>
          <a:p>
            <a:pPr marL="0" lvl="0" indent="0" algn="l" rtl="0">
              <a:spcBef>
                <a:spcPts val="1600"/>
              </a:spcBef>
              <a:spcAft>
                <a:spcPts val="0"/>
              </a:spcAft>
              <a:buNone/>
            </a:pPr>
            <a:endParaRPr dirty="0"/>
          </a:p>
        </p:txBody>
      </p:sp>
      <p:sp>
        <p:nvSpPr>
          <p:cNvPr id="98" name="Google Shape;98;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lang="en-US" dirty="0"/>
          </a:p>
          <a:p>
            <a:pPr marL="0" lvl="0" indent="0" algn="l" rtl="0">
              <a:spcBef>
                <a:spcPts val="0"/>
              </a:spcBef>
              <a:spcAft>
                <a:spcPts val="1600"/>
              </a:spcAft>
              <a:buNone/>
            </a:pPr>
            <a:endParaRPr lang="en-US" dirty="0"/>
          </a:p>
          <a:p>
            <a:pPr marL="0" lvl="0" indent="0" algn="l" rtl="0">
              <a:spcBef>
                <a:spcPts val="0"/>
              </a:spcBef>
              <a:spcAft>
                <a:spcPts val="1600"/>
              </a:spcAft>
              <a:buNone/>
            </a:pPr>
            <a:endParaRPr lang="en-US" dirty="0"/>
          </a:p>
          <a:p>
            <a:pPr marL="0" lvl="0" indent="0" algn="l" rtl="0">
              <a:spcBef>
                <a:spcPts val="0"/>
              </a:spcBef>
              <a:spcAft>
                <a:spcPts val="1600"/>
              </a:spcAft>
              <a:buNone/>
            </a:pPr>
            <a:endParaRPr lang="en-US" dirty="0"/>
          </a:p>
          <a:p>
            <a:pPr marL="0" lvl="0" indent="0">
              <a:spcAft>
                <a:spcPts val="1600"/>
              </a:spcAft>
              <a:buNone/>
            </a:pPr>
            <a:r>
              <a:rPr lang="en-US" dirty="0"/>
              <a:t>But authors mention nothing about discrepancy of network energy consumptions between two heuristic methods and formal method.</a:t>
            </a:r>
          </a:p>
          <a:p>
            <a:pPr marL="0" lvl="0" indent="0">
              <a:spcAft>
                <a:spcPts val="1600"/>
              </a:spcAft>
              <a:buNone/>
            </a:pPr>
            <a:r>
              <a:rPr lang="en-US" dirty="0"/>
              <a:t>Keep in mind that the formal method is not the best solution, authors claim that this method has </a:t>
            </a:r>
            <a:r>
              <a:rPr lang="en-US" u="sng" dirty="0"/>
              <a:t>bounded percentage from optimal, configured to 10%</a:t>
            </a:r>
            <a:r>
              <a:rPr lang="en-US" dirty="0"/>
              <a:t> [3]</a:t>
            </a:r>
            <a:br>
              <a:rPr lang="en-US" dirty="0"/>
            </a:br>
            <a:endParaRPr lang="en-US" dirty="0"/>
          </a:p>
          <a:p>
            <a:pPr marL="0" lvl="0" indent="0" algn="l" rtl="0">
              <a:spcBef>
                <a:spcPts val="0"/>
              </a:spcBef>
              <a:spcAft>
                <a:spcPts val="1600"/>
              </a:spcAft>
              <a:buNone/>
            </a:pPr>
            <a:endParaRPr dirty="0"/>
          </a:p>
        </p:txBody>
      </p:sp>
      <p:sp>
        <p:nvSpPr>
          <p:cNvPr id="99" name="Google Shape;99;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9</a:t>
            </a:fld>
            <a:endParaRPr/>
          </a:p>
        </p:txBody>
      </p:sp>
      <p:pic>
        <p:nvPicPr>
          <p:cNvPr id="100" name="Google Shape;100;p19"/>
          <p:cNvPicPr preferRelativeResize="0"/>
          <p:nvPr/>
        </p:nvPicPr>
        <p:blipFill>
          <a:blip r:embed="rId3">
            <a:alphaModFix/>
          </a:blip>
          <a:stretch>
            <a:fillRect/>
          </a:stretch>
        </p:blipFill>
        <p:spPr>
          <a:xfrm>
            <a:off x="533850" y="847672"/>
            <a:ext cx="7938600" cy="2074050"/>
          </a:xfrm>
          <a:prstGeom prst="rect">
            <a:avLst/>
          </a:prstGeom>
          <a:noFill/>
          <a:ln>
            <a:noFill/>
          </a:ln>
        </p:spPr>
      </p:pic>
      <p:sp>
        <p:nvSpPr>
          <p:cNvPr id="2" name="Rectangle 1">
            <a:extLst>
              <a:ext uri="{FF2B5EF4-FFF2-40B4-BE49-F238E27FC236}">
                <a16:creationId xmlns:a16="http://schemas.microsoft.com/office/drawing/2014/main" id="{015187F7-D7D9-4C6A-93F3-A910A2BC2AEA}"/>
              </a:ext>
            </a:extLst>
          </p:cNvPr>
          <p:cNvSpPr/>
          <p:nvPr/>
        </p:nvSpPr>
        <p:spPr>
          <a:xfrm>
            <a:off x="533850" y="1749775"/>
            <a:ext cx="7938600" cy="1329275"/>
          </a:xfrm>
          <a:prstGeom prst="rect">
            <a:avLst/>
          </a:prstGeom>
          <a:solidFill>
            <a:schemeClr val="accent1">
              <a:alpha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8978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7CE0E-D93D-44E5-83E8-716BC2303BFF}"/>
              </a:ext>
            </a:extLst>
          </p:cNvPr>
          <p:cNvSpPr>
            <a:spLocks noGrp="1"/>
          </p:cNvSpPr>
          <p:nvPr>
            <p:ph type="title"/>
          </p:nvPr>
        </p:nvSpPr>
        <p:spPr>
          <a:xfrm>
            <a:off x="311700" y="141322"/>
            <a:ext cx="8520600" cy="572700"/>
          </a:xfrm>
        </p:spPr>
        <p:txBody>
          <a:bodyPr/>
          <a:lstStyle/>
          <a:p>
            <a:r>
              <a:rPr lang="en-US" dirty="0"/>
              <a:t>2.2. </a:t>
            </a:r>
            <a:r>
              <a:rPr lang="en-GB" dirty="0"/>
              <a:t>Software Defined Network</a:t>
            </a:r>
            <a:endParaRPr lang="en-US" dirty="0"/>
          </a:p>
        </p:txBody>
      </p:sp>
      <p:sp>
        <p:nvSpPr>
          <p:cNvPr id="3" name="Text Placeholder 2">
            <a:extLst>
              <a:ext uri="{FF2B5EF4-FFF2-40B4-BE49-F238E27FC236}">
                <a16:creationId xmlns:a16="http://schemas.microsoft.com/office/drawing/2014/main" id="{C279B46C-C4A4-4EC2-A206-E716167FFA90}"/>
              </a:ext>
            </a:extLst>
          </p:cNvPr>
          <p:cNvSpPr>
            <a:spLocks noGrp="1"/>
          </p:cNvSpPr>
          <p:nvPr>
            <p:ph type="body" idx="1"/>
          </p:nvPr>
        </p:nvSpPr>
        <p:spPr>
          <a:xfrm>
            <a:off x="311700" y="714022"/>
            <a:ext cx="3999900" cy="4146903"/>
          </a:xfrm>
        </p:spPr>
        <p:txBody>
          <a:bodyPr/>
          <a:lstStyle/>
          <a:p>
            <a:r>
              <a:rPr lang="en-US" sz="1600" dirty="0"/>
              <a:t>SDN is the hardware independent next generation networking paradigm in which networking device from any vendors could be controlled through SDN.</a:t>
            </a:r>
          </a:p>
          <a:p>
            <a:r>
              <a:rPr lang="en-US" sz="1600" dirty="0"/>
              <a:t>The openness, feasibility and programmability of SDN reduces the complexity to implement energy efficiency approaches in both hardware and software [7].</a:t>
            </a:r>
          </a:p>
          <a:p>
            <a:r>
              <a:rPr lang="en-US" sz="1600" dirty="0"/>
              <a:t>In my opinion, SDN is the best solution for building simulator and prototype of energy-aware routing in data center networks.</a:t>
            </a:r>
          </a:p>
          <a:p>
            <a:endParaRPr lang="en-US" dirty="0"/>
          </a:p>
          <a:p>
            <a:endParaRPr lang="en-US" dirty="0"/>
          </a:p>
        </p:txBody>
      </p:sp>
      <p:sp>
        <p:nvSpPr>
          <p:cNvPr id="7" name="Text Placeholder 6">
            <a:extLst>
              <a:ext uri="{FF2B5EF4-FFF2-40B4-BE49-F238E27FC236}">
                <a16:creationId xmlns:a16="http://schemas.microsoft.com/office/drawing/2014/main" id="{067D2080-54C8-4755-8663-C69C85435B63}"/>
              </a:ext>
            </a:extLst>
          </p:cNvPr>
          <p:cNvSpPr>
            <a:spLocks noGrp="1"/>
          </p:cNvSpPr>
          <p:nvPr>
            <p:ph type="body" idx="2"/>
          </p:nvPr>
        </p:nvSpPr>
        <p:spPr/>
        <p:txBody>
          <a:bodyPr/>
          <a:lstStyle/>
          <a:p>
            <a:endParaRPr lang="en-US"/>
          </a:p>
        </p:txBody>
      </p:sp>
      <p:sp>
        <p:nvSpPr>
          <p:cNvPr id="4" name="Slide Number Placeholder 3">
            <a:extLst>
              <a:ext uri="{FF2B5EF4-FFF2-40B4-BE49-F238E27FC236}">
                <a16:creationId xmlns:a16="http://schemas.microsoft.com/office/drawing/2014/main" id="{83BA61EF-5262-4F85-B86F-89512A1CCB4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10</a:t>
            </a:fld>
            <a:endParaRPr lang="en-GB"/>
          </a:p>
        </p:txBody>
      </p:sp>
      <p:pic>
        <p:nvPicPr>
          <p:cNvPr id="6" name="Picture 5">
            <a:extLst>
              <a:ext uri="{FF2B5EF4-FFF2-40B4-BE49-F238E27FC236}">
                <a16:creationId xmlns:a16="http://schemas.microsoft.com/office/drawing/2014/main" id="{22527F09-159D-41AD-AE06-BD3B55B004C0}"/>
              </a:ext>
            </a:extLst>
          </p:cNvPr>
          <p:cNvPicPr>
            <a:picLocks noChangeAspect="1"/>
          </p:cNvPicPr>
          <p:nvPr/>
        </p:nvPicPr>
        <p:blipFill>
          <a:blip r:embed="rId3"/>
          <a:stretch>
            <a:fillRect/>
          </a:stretch>
        </p:blipFill>
        <p:spPr>
          <a:xfrm>
            <a:off x="4773377" y="860425"/>
            <a:ext cx="3771900" cy="4000500"/>
          </a:xfrm>
          <a:prstGeom prst="rect">
            <a:avLst/>
          </a:prstGeom>
        </p:spPr>
      </p:pic>
    </p:spTree>
    <p:extLst>
      <p:ext uri="{BB962C8B-B14F-4D97-AF65-F5344CB8AC3E}">
        <p14:creationId xmlns:p14="http://schemas.microsoft.com/office/powerpoint/2010/main" val="4272538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C1A0A-1B43-4A11-9AC4-DFD7EEDB8312}"/>
              </a:ext>
            </a:extLst>
          </p:cNvPr>
          <p:cNvSpPr>
            <a:spLocks noGrp="1"/>
          </p:cNvSpPr>
          <p:nvPr>
            <p:ph type="title"/>
          </p:nvPr>
        </p:nvSpPr>
        <p:spPr/>
        <p:txBody>
          <a:bodyPr/>
          <a:lstStyle/>
          <a:p>
            <a:r>
              <a:rPr lang="en-US" dirty="0"/>
              <a:t>2.2. </a:t>
            </a:r>
            <a:r>
              <a:rPr lang="en-GB" dirty="0"/>
              <a:t>Software Defined Network (2)</a:t>
            </a:r>
            <a:endParaRPr lang="en-US" dirty="0"/>
          </a:p>
        </p:txBody>
      </p:sp>
      <p:pic>
        <p:nvPicPr>
          <p:cNvPr id="6" name="Picture 5">
            <a:extLst>
              <a:ext uri="{FF2B5EF4-FFF2-40B4-BE49-F238E27FC236}">
                <a16:creationId xmlns:a16="http://schemas.microsoft.com/office/drawing/2014/main" id="{B1EA6DB6-2C14-411C-A755-D5C60613D2C8}"/>
              </a:ext>
            </a:extLst>
          </p:cNvPr>
          <p:cNvPicPr>
            <a:picLocks noChangeAspect="1"/>
          </p:cNvPicPr>
          <p:nvPr/>
        </p:nvPicPr>
        <p:blipFill>
          <a:blip r:embed="rId2"/>
          <a:stretch>
            <a:fillRect/>
          </a:stretch>
        </p:blipFill>
        <p:spPr>
          <a:xfrm>
            <a:off x="739725" y="1608137"/>
            <a:ext cx="3571875" cy="2505075"/>
          </a:xfrm>
          <a:prstGeom prst="rect">
            <a:avLst/>
          </a:prstGeom>
        </p:spPr>
      </p:pic>
      <p:sp>
        <p:nvSpPr>
          <p:cNvPr id="3" name="Text Placeholder 2">
            <a:extLst>
              <a:ext uri="{FF2B5EF4-FFF2-40B4-BE49-F238E27FC236}">
                <a16:creationId xmlns:a16="http://schemas.microsoft.com/office/drawing/2014/main" id="{B75C4A33-9E62-43C8-A4DF-1C109965B455}"/>
              </a:ext>
            </a:extLst>
          </p:cNvPr>
          <p:cNvSpPr>
            <a:spLocks noGrp="1"/>
          </p:cNvSpPr>
          <p:nvPr>
            <p:ph type="body" idx="1"/>
          </p:nvPr>
        </p:nvSpPr>
        <p:spPr/>
        <p:txBody>
          <a:bodyPr/>
          <a:lstStyle/>
          <a:p>
            <a:endParaRPr lang="en-US" dirty="0"/>
          </a:p>
        </p:txBody>
      </p:sp>
      <p:sp>
        <p:nvSpPr>
          <p:cNvPr id="4" name="Text Placeholder 3">
            <a:extLst>
              <a:ext uri="{FF2B5EF4-FFF2-40B4-BE49-F238E27FC236}">
                <a16:creationId xmlns:a16="http://schemas.microsoft.com/office/drawing/2014/main" id="{ED1D028E-EC16-484C-ACE7-725FF9A894F0}"/>
              </a:ext>
            </a:extLst>
          </p:cNvPr>
          <p:cNvSpPr>
            <a:spLocks noGrp="1"/>
          </p:cNvSpPr>
          <p:nvPr>
            <p:ph type="body" idx="2"/>
          </p:nvPr>
        </p:nvSpPr>
        <p:spPr/>
        <p:txBody>
          <a:bodyPr/>
          <a:lstStyle/>
          <a:p>
            <a:r>
              <a:rPr lang="en-US" dirty="0" err="1"/>
              <a:t>ElasticTree</a:t>
            </a:r>
            <a:r>
              <a:rPr lang="en-US" dirty="0"/>
              <a:t> uses NOX, OpenFlow for its controller and Southbound API respectively. [3]</a:t>
            </a:r>
          </a:p>
        </p:txBody>
      </p:sp>
      <p:sp>
        <p:nvSpPr>
          <p:cNvPr id="5" name="Slide Number Placeholder 4">
            <a:extLst>
              <a:ext uri="{FF2B5EF4-FFF2-40B4-BE49-F238E27FC236}">
                <a16:creationId xmlns:a16="http://schemas.microsoft.com/office/drawing/2014/main" id="{425C3BE5-7C49-4915-929D-38FEC6F1E18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11</a:t>
            </a:fld>
            <a:endParaRPr lang="en-GB"/>
          </a:p>
        </p:txBody>
      </p:sp>
      <p:pic>
        <p:nvPicPr>
          <p:cNvPr id="7" name="Picture 6">
            <a:extLst>
              <a:ext uri="{FF2B5EF4-FFF2-40B4-BE49-F238E27FC236}">
                <a16:creationId xmlns:a16="http://schemas.microsoft.com/office/drawing/2014/main" id="{5B951C26-6406-4E34-BCCC-0EA7FD7E1BCD}"/>
              </a:ext>
            </a:extLst>
          </p:cNvPr>
          <p:cNvPicPr>
            <a:picLocks noChangeAspect="1"/>
          </p:cNvPicPr>
          <p:nvPr/>
        </p:nvPicPr>
        <p:blipFill>
          <a:blip r:embed="rId3"/>
          <a:stretch>
            <a:fillRect/>
          </a:stretch>
        </p:blipFill>
        <p:spPr>
          <a:xfrm>
            <a:off x="652412" y="4183969"/>
            <a:ext cx="3484198" cy="314149"/>
          </a:xfrm>
          <a:prstGeom prst="rect">
            <a:avLst/>
          </a:prstGeom>
        </p:spPr>
      </p:pic>
      <p:pic>
        <p:nvPicPr>
          <p:cNvPr id="8" name="Picture 7">
            <a:extLst>
              <a:ext uri="{FF2B5EF4-FFF2-40B4-BE49-F238E27FC236}">
                <a16:creationId xmlns:a16="http://schemas.microsoft.com/office/drawing/2014/main" id="{5F8EB297-BE86-4871-BC21-5C631B763845}"/>
              </a:ext>
            </a:extLst>
          </p:cNvPr>
          <p:cNvPicPr>
            <a:picLocks noChangeAspect="1"/>
          </p:cNvPicPr>
          <p:nvPr/>
        </p:nvPicPr>
        <p:blipFill>
          <a:blip r:embed="rId4"/>
          <a:stretch>
            <a:fillRect/>
          </a:stretch>
        </p:blipFill>
        <p:spPr>
          <a:xfrm>
            <a:off x="5117570" y="3212243"/>
            <a:ext cx="2905125" cy="1285875"/>
          </a:xfrm>
          <a:prstGeom prst="rect">
            <a:avLst/>
          </a:prstGeom>
        </p:spPr>
      </p:pic>
    </p:spTree>
    <p:extLst>
      <p:ext uri="{BB962C8B-B14F-4D97-AF65-F5344CB8AC3E}">
        <p14:creationId xmlns:p14="http://schemas.microsoft.com/office/powerpoint/2010/main" val="1438964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4AB99-9921-46A3-9EA2-43F7A75B75A4}"/>
              </a:ext>
            </a:extLst>
          </p:cNvPr>
          <p:cNvSpPr>
            <a:spLocks noGrp="1"/>
          </p:cNvSpPr>
          <p:nvPr>
            <p:ph type="title"/>
          </p:nvPr>
        </p:nvSpPr>
        <p:spPr/>
        <p:txBody>
          <a:bodyPr/>
          <a:lstStyle/>
          <a:p>
            <a:r>
              <a:rPr lang="en-US" dirty="0"/>
              <a:t>2.2. </a:t>
            </a:r>
            <a:r>
              <a:rPr lang="en-GB" dirty="0"/>
              <a:t>Machine Learning</a:t>
            </a:r>
            <a:endParaRPr lang="en-US" dirty="0"/>
          </a:p>
        </p:txBody>
      </p:sp>
      <p:sp>
        <p:nvSpPr>
          <p:cNvPr id="3" name="Text Placeholder 2">
            <a:extLst>
              <a:ext uri="{FF2B5EF4-FFF2-40B4-BE49-F238E27FC236}">
                <a16:creationId xmlns:a16="http://schemas.microsoft.com/office/drawing/2014/main" id="{012DD81A-11F1-4EB6-957B-5BDFDE81829E}"/>
              </a:ext>
            </a:extLst>
          </p:cNvPr>
          <p:cNvSpPr>
            <a:spLocks noGrp="1"/>
          </p:cNvSpPr>
          <p:nvPr>
            <p:ph type="body" idx="1"/>
          </p:nvPr>
        </p:nvSpPr>
        <p:spPr/>
        <p:txBody>
          <a:bodyPr/>
          <a:lstStyle/>
          <a:p>
            <a:r>
              <a:rPr lang="en-US" dirty="0" err="1"/>
              <a:t>ElasticTree</a:t>
            </a:r>
            <a:r>
              <a:rPr lang="en-US" dirty="0"/>
              <a:t> solves saving energy consumption, but it has limitation [7]: </a:t>
            </a:r>
          </a:p>
          <a:p>
            <a:endParaRPr lang="en-US" dirty="0"/>
          </a:p>
          <a:p>
            <a:endParaRPr lang="en-US" dirty="0"/>
          </a:p>
          <a:p>
            <a:endParaRPr lang="en-US" dirty="0"/>
          </a:p>
          <a:p>
            <a:endParaRPr lang="en-US" dirty="0"/>
          </a:p>
          <a:p>
            <a:r>
              <a:rPr lang="en-US" dirty="0"/>
              <a:t>Many factors affect routing performance in a complex way, leading to the need of sophisticated scheme that makes correct trade-offs.</a:t>
            </a:r>
          </a:p>
          <a:p>
            <a:r>
              <a:rPr lang="en-US" dirty="0"/>
              <a:t>An approach uses Deep Reinforcement Learning (DRL) to minimize network delay and authors find out that DRL has advantages over traditional heuristic and linear/convex optimization techniques [8]</a:t>
            </a:r>
          </a:p>
          <a:p>
            <a:endParaRPr lang="en-US" dirty="0"/>
          </a:p>
          <a:p>
            <a:endParaRPr lang="en-US" dirty="0"/>
          </a:p>
        </p:txBody>
      </p:sp>
      <p:sp>
        <p:nvSpPr>
          <p:cNvPr id="4" name="Slide Number Placeholder 3">
            <a:extLst>
              <a:ext uri="{FF2B5EF4-FFF2-40B4-BE49-F238E27FC236}">
                <a16:creationId xmlns:a16="http://schemas.microsoft.com/office/drawing/2014/main" id="{16825FE5-3773-43F6-971F-AFCB2F7E034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12</a:t>
            </a:fld>
            <a:endParaRPr lang="en-GB"/>
          </a:p>
        </p:txBody>
      </p:sp>
      <p:pic>
        <p:nvPicPr>
          <p:cNvPr id="6" name="Picture 5">
            <a:extLst>
              <a:ext uri="{FF2B5EF4-FFF2-40B4-BE49-F238E27FC236}">
                <a16:creationId xmlns:a16="http://schemas.microsoft.com/office/drawing/2014/main" id="{4BFF354E-037D-4DE7-B916-B4E7168B1C1F}"/>
              </a:ext>
            </a:extLst>
          </p:cNvPr>
          <p:cNvPicPr>
            <a:picLocks noChangeAspect="1"/>
          </p:cNvPicPr>
          <p:nvPr/>
        </p:nvPicPr>
        <p:blipFill>
          <a:blip r:embed="rId2"/>
          <a:stretch>
            <a:fillRect/>
          </a:stretch>
        </p:blipFill>
        <p:spPr>
          <a:xfrm>
            <a:off x="917585" y="1580444"/>
            <a:ext cx="7554873" cy="1128889"/>
          </a:xfrm>
          <a:prstGeom prst="rect">
            <a:avLst/>
          </a:prstGeom>
        </p:spPr>
      </p:pic>
    </p:spTree>
    <p:extLst>
      <p:ext uri="{BB962C8B-B14F-4D97-AF65-F5344CB8AC3E}">
        <p14:creationId xmlns:p14="http://schemas.microsoft.com/office/powerpoint/2010/main" val="32211935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4C324-245E-4FC4-A332-80316F484379}"/>
              </a:ext>
            </a:extLst>
          </p:cNvPr>
          <p:cNvSpPr>
            <a:spLocks noGrp="1"/>
          </p:cNvSpPr>
          <p:nvPr>
            <p:ph type="title"/>
          </p:nvPr>
        </p:nvSpPr>
        <p:spPr/>
        <p:txBody>
          <a:bodyPr/>
          <a:lstStyle/>
          <a:p>
            <a:r>
              <a:rPr lang="en-US" dirty="0"/>
              <a:t>2.2. </a:t>
            </a:r>
            <a:r>
              <a:rPr lang="en-GB" dirty="0"/>
              <a:t>Machine Learning (2)</a:t>
            </a:r>
            <a:endParaRPr lang="en-US" dirty="0"/>
          </a:p>
        </p:txBody>
      </p:sp>
      <p:sp>
        <p:nvSpPr>
          <p:cNvPr id="3" name="Text Placeholder 2">
            <a:extLst>
              <a:ext uri="{FF2B5EF4-FFF2-40B4-BE49-F238E27FC236}">
                <a16:creationId xmlns:a16="http://schemas.microsoft.com/office/drawing/2014/main" id="{1247DF7E-B269-407A-956D-FD6ABE5412A7}"/>
              </a:ext>
            </a:extLst>
          </p:cNvPr>
          <p:cNvSpPr>
            <a:spLocks noGrp="1"/>
          </p:cNvSpPr>
          <p:nvPr>
            <p:ph type="body" idx="1"/>
          </p:nvPr>
        </p:nvSpPr>
        <p:spPr/>
        <p:txBody>
          <a:bodyPr/>
          <a:lstStyle/>
          <a:p>
            <a:r>
              <a:rPr lang="en-US" dirty="0"/>
              <a:t>In a survey [9], authors also find advantages and shortcoming of DRL, comparing with other ML algorithms.</a:t>
            </a:r>
          </a:p>
        </p:txBody>
      </p:sp>
      <p:sp>
        <p:nvSpPr>
          <p:cNvPr id="4" name="Slide Number Placeholder 3">
            <a:extLst>
              <a:ext uri="{FF2B5EF4-FFF2-40B4-BE49-F238E27FC236}">
                <a16:creationId xmlns:a16="http://schemas.microsoft.com/office/drawing/2014/main" id="{07ED9C25-48CE-4B5F-90EF-C2F61297726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13</a:t>
            </a:fld>
            <a:endParaRPr lang="en-GB"/>
          </a:p>
        </p:txBody>
      </p:sp>
      <p:pic>
        <p:nvPicPr>
          <p:cNvPr id="5" name="Picture 4">
            <a:extLst>
              <a:ext uri="{FF2B5EF4-FFF2-40B4-BE49-F238E27FC236}">
                <a16:creationId xmlns:a16="http://schemas.microsoft.com/office/drawing/2014/main" id="{47CB9932-7F2B-4D13-956A-AF9C43EC4833}"/>
              </a:ext>
            </a:extLst>
          </p:cNvPr>
          <p:cNvPicPr>
            <a:picLocks noChangeAspect="1"/>
          </p:cNvPicPr>
          <p:nvPr/>
        </p:nvPicPr>
        <p:blipFill>
          <a:blip r:embed="rId2"/>
          <a:stretch>
            <a:fillRect/>
          </a:stretch>
        </p:blipFill>
        <p:spPr>
          <a:xfrm>
            <a:off x="811742" y="2000250"/>
            <a:ext cx="7181850" cy="1143000"/>
          </a:xfrm>
          <a:prstGeom prst="rect">
            <a:avLst/>
          </a:prstGeom>
        </p:spPr>
      </p:pic>
    </p:spTree>
    <p:extLst>
      <p:ext uri="{BB962C8B-B14F-4D97-AF65-F5344CB8AC3E}">
        <p14:creationId xmlns:p14="http://schemas.microsoft.com/office/powerpoint/2010/main" val="1308763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982C7-70CB-4F1B-9B91-AE874B009AF5}"/>
              </a:ext>
            </a:extLst>
          </p:cNvPr>
          <p:cNvSpPr>
            <a:spLocks noGrp="1"/>
          </p:cNvSpPr>
          <p:nvPr>
            <p:ph type="title"/>
          </p:nvPr>
        </p:nvSpPr>
        <p:spPr/>
        <p:txBody>
          <a:bodyPr/>
          <a:lstStyle/>
          <a:p>
            <a:r>
              <a:rPr lang="en-US" dirty="0"/>
              <a:t>3. Problem</a:t>
            </a:r>
          </a:p>
        </p:txBody>
      </p:sp>
      <p:sp>
        <p:nvSpPr>
          <p:cNvPr id="3" name="Text Placeholder 2">
            <a:extLst>
              <a:ext uri="{FF2B5EF4-FFF2-40B4-BE49-F238E27FC236}">
                <a16:creationId xmlns:a16="http://schemas.microsoft.com/office/drawing/2014/main" id="{9B7018A0-2953-43F7-9ED9-ACB182CB80A8}"/>
              </a:ext>
            </a:extLst>
          </p:cNvPr>
          <p:cNvSpPr>
            <a:spLocks noGrp="1"/>
          </p:cNvSpPr>
          <p:nvPr>
            <p:ph type="body" idx="1"/>
          </p:nvPr>
        </p:nvSpPr>
        <p:spPr/>
        <p:txBody>
          <a:bodyPr/>
          <a:lstStyle/>
          <a:p>
            <a:r>
              <a:rPr lang="en-US" dirty="0"/>
              <a:t>My proposal:</a:t>
            </a:r>
          </a:p>
          <a:p>
            <a:r>
              <a:rPr lang="en-US" dirty="0"/>
              <a:t>A deep reinforcement learning for adaptive routing in random shortcut network. This routing addresses at the same time three factors:</a:t>
            </a:r>
          </a:p>
          <a:p>
            <a:pPr lvl="1"/>
            <a:r>
              <a:rPr lang="en-US" dirty="0"/>
              <a:t>Minimizing energy consumption by choosing a subset of network and then turning off idle links and ports.</a:t>
            </a:r>
          </a:p>
          <a:p>
            <a:pPr lvl="1"/>
            <a:r>
              <a:rPr lang="en-US" dirty="0"/>
              <a:t>Minimizing network delay</a:t>
            </a:r>
          </a:p>
          <a:p>
            <a:pPr lvl="1"/>
            <a:r>
              <a:rPr lang="en-US" dirty="0"/>
              <a:t>Maximizing fault tolerant ability</a:t>
            </a:r>
          </a:p>
          <a:p>
            <a:endParaRPr lang="en-US" dirty="0"/>
          </a:p>
          <a:p>
            <a:endParaRPr lang="en-US" dirty="0"/>
          </a:p>
        </p:txBody>
      </p:sp>
      <p:sp>
        <p:nvSpPr>
          <p:cNvPr id="4" name="Slide Number Placeholder 3">
            <a:extLst>
              <a:ext uri="{FF2B5EF4-FFF2-40B4-BE49-F238E27FC236}">
                <a16:creationId xmlns:a16="http://schemas.microsoft.com/office/drawing/2014/main" id="{34875AE4-1D20-4640-AD04-7D67014578E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14</a:t>
            </a:fld>
            <a:endParaRPr lang="en-GB"/>
          </a:p>
        </p:txBody>
      </p:sp>
    </p:spTree>
    <p:extLst>
      <p:ext uri="{BB962C8B-B14F-4D97-AF65-F5344CB8AC3E}">
        <p14:creationId xmlns:p14="http://schemas.microsoft.com/office/powerpoint/2010/main" val="2946051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6D88D-3AE2-434E-9CEA-D78267814F62}"/>
              </a:ext>
            </a:extLst>
          </p:cNvPr>
          <p:cNvSpPr>
            <a:spLocks noGrp="1"/>
          </p:cNvSpPr>
          <p:nvPr>
            <p:ph type="title"/>
          </p:nvPr>
        </p:nvSpPr>
        <p:spPr/>
        <p:txBody>
          <a:bodyPr/>
          <a:lstStyle/>
          <a:p>
            <a:r>
              <a:rPr lang="en-US" dirty="0"/>
              <a:t>4. Related work</a:t>
            </a:r>
          </a:p>
        </p:txBody>
      </p:sp>
      <p:sp>
        <p:nvSpPr>
          <p:cNvPr id="3" name="Text Placeholder 2">
            <a:extLst>
              <a:ext uri="{FF2B5EF4-FFF2-40B4-BE49-F238E27FC236}">
                <a16:creationId xmlns:a16="http://schemas.microsoft.com/office/drawing/2014/main" id="{49ECDC9A-C88E-4430-B017-6DA0A0E2409D}"/>
              </a:ext>
            </a:extLst>
          </p:cNvPr>
          <p:cNvSpPr>
            <a:spLocks noGrp="1"/>
          </p:cNvSpPr>
          <p:nvPr>
            <p:ph type="body" idx="1"/>
          </p:nvPr>
        </p:nvSpPr>
        <p:spPr/>
        <p:txBody>
          <a:bodyPr/>
          <a:lstStyle/>
          <a:p>
            <a:r>
              <a:rPr lang="en-US" dirty="0"/>
              <a:t>Energy saving by turning on/off links and ports in itself is not new [2, 3, 4] but they concentrate on fat tree or torus. Random shortcut topology still is out of action.</a:t>
            </a:r>
          </a:p>
          <a:p>
            <a:r>
              <a:rPr lang="en-US" dirty="0"/>
              <a:t>Some solutions try to save energy consumption like rate adaption [10]  and energy proportional [11], but current networking devices are far from satisfying their assumptions [12].</a:t>
            </a:r>
          </a:p>
          <a:p>
            <a:r>
              <a:rPr lang="en-US" dirty="0"/>
              <a:t>Recent trends is the use of ML techniques for the control and operation of the network and in this area, RL techniques tackle routing optimization. A version of RL, DRL shows promising performance in scale-free network [8] but authors focus on only network delay.</a:t>
            </a:r>
          </a:p>
          <a:p>
            <a:r>
              <a:rPr lang="en-US" dirty="0"/>
              <a:t>An approach also uses RL for energy-aware routing, but it concentrates on wireless network [13].</a:t>
            </a:r>
          </a:p>
          <a:p>
            <a:endParaRPr lang="en-US" dirty="0"/>
          </a:p>
        </p:txBody>
      </p:sp>
      <p:sp>
        <p:nvSpPr>
          <p:cNvPr id="4" name="Slide Number Placeholder 3">
            <a:extLst>
              <a:ext uri="{FF2B5EF4-FFF2-40B4-BE49-F238E27FC236}">
                <a16:creationId xmlns:a16="http://schemas.microsoft.com/office/drawing/2014/main" id="{83AF119E-9579-4F3A-9071-3BCF9D4BABD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15</a:t>
            </a:fld>
            <a:endParaRPr lang="en-GB"/>
          </a:p>
        </p:txBody>
      </p:sp>
    </p:spTree>
    <p:extLst>
      <p:ext uri="{BB962C8B-B14F-4D97-AF65-F5344CB8AC3E}">
        <p14:creationId xmlns:p14="http://schemas.microsoft.com/office/powerpoint/2010/main" val="1299038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5. Conclusion (1)</a:t>
            </a:r>
            <a:endParaRPr dirty="0"/>
          </a:p>
        </p:txBody>
      </p:sp>
      <p:sp>
        <p:nvSpPr>
          <p:cNvPr id="106" name="Google Shape;106;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Random shortcut network has better scalability, smaller diameter and lower latency when compared to regular network topologies. But it still lacks a saving energy solution as this topology is applied to data </a:t>
            </a:r>
            <a:r>
              <a:rPr lang="en-GB" dirty="0" err="1"/>
              <a:t>center</a:t>
            </a:r>
            <a:r>
              <a:rPr lang="en-GB" dirty="0"/>
              <a:t> networks. </a:t>
            </a:r>
            <a:endParaRPr dirty="0"/>
          </a:p>
          <a:p>
            <a:pPr marL="0" lvl="0" indent="0" algn="l" rtl="0">
              <a:spcBef>
                <a:spcPts val="1600"/>
              </a:spcBef>
              <a:spcAft>
                <a:spcPts val="0"/>
              </a:spcAft>
              <a:buNone/>
            </a:pPr>
            <a:r>
              <a:rPr lang="en-GB" dirty="0"/>
              <a:t>I am going to use adaptive routing to maximize numbers of idle ports and links and then power them off. I believe that using a subset of network will reduce energy consumption. I expect a deep reinforcement learning to give an acceptable routing for this NP-complete problem.</a:t>
            </a:r>
            <a:endParaRPr dirty="0"/>
          </a:p>
          <a:p>
            <a:pPr marL="0" lvl="0" indent="0" algn="l" rtl="0">
              <a:spcBef>
                <a:spcPts val="1600"/>
              </a:spcBef>
              <a:spcAft>
                <a:spcPts val="1600"/>
              </a:spcAft>
              <a:buNone/>
            </a:pPr>
            <a:endParaRPr dirty="0"/>
          </a:p>
        </p:txBody>
      </p:sp>
      <p:sp>
        <p:nvSpPr>
          <p:cNvPr id="107" name="Google Shape;107;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B3978-827F-45BE-AB36-F0407107E7D0}"/>
              </a:ext>
            </a:extLst>
          </p:cNvPr>
          <p:cNvSpPr>
            <a:spLocks noGrp="1"/>
          </p:cNvSpPr>
          <p:nvPr>
            <p:ph type="title"/>
          </p:nvPr>
        </p:nvSpPr>
        <p:spPr/>
        <p:txBody>
          <a:bodyPr/>
          <a:lstStyle/>
          <a:p>
            <a:r>
              <a:rPr lang="en-GB" dirty="0"/>
              <a:t>5. Conclusion (2)</a:t>
            </a:r>
            <a:endParaRPr lang="en-US" dirty="0"/>
          </a:p>
        </p:txBody>
      </p:sp>
      <p:sp>
        <p:nvSpPr>
          <p:cNvPr id="3" name="Text Placeholder 2">
            <a:extLst>
              <a:ext uri="{FF2B5EF4-FFF2-40B4-BE49-F238E27FC236}">
                <a16:creationId xmlns:a16="http://schemas.microsoft.com/office/drawing/2014/main" id="{E4708602-4B5B-4E3D-A986-AEB9B29328CD}"/>
              </a:ext>
            </a:extLst>
          </p:cNvPr>
          <p:cNvSpPr>
            <a:spLocks noGrp="1"/>
          </p:cNvSpPr>
          <p:nvPr>
            <p:ph type="body" idx="1"/>
          </p:nvPr>
        </p:nvSpPr>
        <p:spPr/>
        <p:txBody>
          <a:bodyPr/>
          <a:lstStyle/>
          <a:p>
            <a:r>
              <a:rPr lang="en-GB" dirty="0"/>
              <a:t>I hope my proposal not only saves up to 50% of network energy but also minimizes network delay, maximizes fault tolerant ability and therefore justifies using random shortcut topology.</a:t>
            </a:r>
          </a:p>
          <a:p>
            <a:r>
              <a:rPr lang="en-US" dirty="0"/>
              <a:t>In future work, a deep reinforcement learning could work better than other classic techniques for prediction as scaling nodes of DCN.</a:t>
            </a:r>
          </a:p>
          <a:p>
            <a:endParaRPr lang="en-US" dirty="0"/>
          </a:p>
        </p:txBody>
      </p:sp>
      <p:sp>
        <p:nvSpPr>
          <p:cNvPr id="4" name="Slide Number Placeholder 3">
            <a:extLst>
              <a:ext uri="{FF2B5EF4-FFF2-40B4-BE49-F238E27FC236}">
                <a16:creationId xmlns:a16="http://schemas.microsoft.com/office/drawing/2014/main" id="{AB8F3982-26ED-42FD-81A8-4A8976189E2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17</a:t>
            </a:fld>
            <a:endParaRPr lang="en-GB"/>
          </a:p>
        </p:txBody>
      </p:sp>
    </p:spTree>
    <p:extLst>
      <p:ext uri="{BB962C8B-B14F-4D97-AF65-F5344CB8AC3E}">
        <p14:creationId xmlns:p14="http://schemas.microsoft.com/office/powerpoint/2010/main" val="41147730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References</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13" name="Google Shape;113;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400" dirty="0">
                <a:solidFill>
                  <a:schemeClr val="tx1"/>
                </a:solidFill>
              </a:rPr>
              <a:t>[1] A. Greenberg, et al. The Cost of a Cloud: Research Problems in Data </a:t>
            </a:r>
            <a:r>
              <a:rPr lang="en-GB" sz="1400" dirty="0" err="1">
                <a:solidFill>
                  <a:schemeClr val="tx1"/>
                </a:solidFill>
              </a:rPr>
              <a:t>Center</a:t>
            </a:r>
            <a:r>
              <a:rPr lang="en-GB" sz="1400" dirty="0">
                <a:solidFill>
                  <a:schemeClr val="tx1"/>
                </a:solidFill>
              </a:rPr>
              <a:t> Networks. In ACM SIGCOMM CCR, January 2009.</a:t>
            </a:r>
            <a:endParaRPr sz="1400" dirty="0">
              <a:solidFill>
                <a:schemeClr val="tx1"/>
              </a:solidFill>
            </a:endParaRPr>
          </a:p>
          <a:p>
            <a:pPr marL="0" lvl="0" indent="0" algn="l" rtl="0">
              <a:spcBef>
                <a:spcPts val="1600"/>
              </a:spcBef>
              <a:spcAft>
                <a:spcPts val="0"/>
              </a:spcAft>
              <a:buNone/>
            </a:pPr>
            <a:r>
              <a:rPr lang="en-GB" sz="1400" dirty="0">
                <a:solidFill>
                  <a:schemeClr val="tx1"/>
                </a:solidFill>
              </a:rPr>
              <a:t>[2] </a:t>
            </a:r>
            <a:r>
              <a:rPr lang="en-GB" sz="1400" dirty="0" err="1">
                <a:solidFill>
                  <a:schemeClr val="tx1"/>
                </a:solidFill>
              </a:rPr>
              <a:t>Andújar</a:t>
            </a:r>
            <a:r>
              <a:rPr lang="en-GB" sz="1400" dirty="0">
                <a:solidFill>
                  <a:schemeClr val="tx1"/>
                </a:solidFill>
              </a:rPr>
              <a:t>, F. J et al. Energy efficient torus networks with on/off links. Journal of Parallel and Distributed Computing, March 2019.</a:t>
            </a:r>
            <a:endParaRPr sz="1400" dirty="0">
              <a:solidFill>
                <a:schemeClr val="tx1"/>
              </a:solidFill>
            </a:endParaRPr>
          </a:p>
          <a:p>
            <a:pPr marL="0" lvl="0" indent="0" algn="l" rtl="0">
              <a:spcBef>
                <a:spcPts val="1600"/>
              </a:spcBef>
              <a:spcAft>
                <a:spcPts val="0"/>
              </a:spcAft>
              <a:buNone/>
            </a:pPr>
            <a:r>
              <a:rPr lang="en-GB" sz="1400" dirty="0">
                <a:solidFill>
                  <a:schemeClr val="tx1"/>
                </a:solidFill>
              </a:rPr>
              <a:t>[3] Heller, Brandon, et al. </a:t>
            </a:r>
            <a:r>
              <a:rPr lang="en-GB" sz="1400" dirty="0" err="1">
                <a:solidFill>
                  <a:schemeClr val="tx1"/>
                </a:solidFill>
              </a:rPr>
              <a:t>Elastictree</a:t>
            </a:r>
            <a:r>
              <a:rPr lang="en-GB" sz="1400" dirty="0">
                <a:solidFill>
                  <a:schemeClr val="tx1"/>
                </a:solidFill>
              </a:rPr>
              <a:t>: Saving energy in data </a:t>
            </a:r>
            <a:r>
              <a:rPr lang="en-GB" sz="1400" dirty="0" err="1">
                <a:solidFill>
                  <a:schemeClr val="tx1"/>
                </a:solidFill>
              </a:rPr>
              <a:t>center</a:t>
            </a:r>
            <a:r>
              <a:rPr lang="en-GB" sz="1400" dirty="0">
                <a:solidFill>
                  <a:schemeClr val="tx1"/>
                </a:solidFill>
              </a:rPr>
              <a:t> networks. </a:t>
            </a:r>
            <a:r>
              <a:rPr lang="en-GB" sz="1400" i="1" dirty="0" err="1">
                <a:solidFill>
                  <a:schemeClr val="tx1"/>
                </a:solidFill>
              </a:rPr>
              <a:t>Nsdi</a:t>
            </a:r>
            <a:r>
              <a:rPr lang="en-GB" sz="1400" dirty="0">
                <a:solidFill>
                  <a:schemeClr val="tx1"/>
                </a:solidFill>
              </a:rPr>
              <a:t>. Vol. 10. April, 2010.</a:t>
            </a:r>
            <a:endParaRPr sz="1400" dirty="0">
              <a:solidFill>
                <a:schemeClr val="tx1"/>
              </a:solidFill>
            </a:endParaRPr>
          </a:p>
          <a:p>
            <a:pPr marL="0" lvl="0" indent="0" algn="l" rtl="0">
              <a:spcBef>
                <a:spcPts val="1600"/>
              </a:spcBef>
              <a:spcAft>
                <a:spcPts val="0"/>
              </a:spcAft>
              <a:buNone/>
            </a:pPr>
            <a:r>
              <a:rPr lang="en-GB" sz="1400" dirty="0">
                <a:solidFill>
                  <a:schemeClr val="tx1"/>
                </a:solidFill>
              </a:rPr>
              <a:t>[4] </a:t>
            </a:r>
            <a:r>
              <a:rPr lang="en-GB" sz="1400" dirty="0" err="1">
                <a:solidFill>
                  <a:schemeClr val="tx1"/>
                </a:solidFill>
              </a:rPr>
              <a:t>Andújar</a:t>
            </a:r>
            <a:r>
              <a:rPr lang="en-GB" sz="1400" dirty="0">
                <a:solidFill>
                  <a:schemeClr val="tx1"/>
                </a:solidFill>
              </a:rPr>
              <a:t>, </a:t>
            </a:r>
            <a:r>
              <a:rPr lang="en-GB" sz="1400" dirty="0" err="1">
                <a:solidFill>
                  <a:schemeClr val="tx1"/>
                </a:solidFill>
              </a:rPr>
              <a:t>Franciso</a:t>
            </a:r>
            <a:r>
              <a:rPr lang="en-GB" sz="1400" dirty="0">
                <a:solidFill>
                  <a:schemeClr val="tx1"/>
                </a:solidFill>
              </a:rPr>
              <a:t> J., et al. "POWAR: Power-Aware Routing in HPC Networks with On/Off Links." ACM Transactions on Architecture and Code Optimization (TACO) 15.4 (2019): 61.</a:t>
            </a:r>
            <a:endParaRPr sz="1400" dirty="0">
              <a:solidFill>
                <a:schemeClr val="tx1"/>
              </a:solidFill>
            </a:endParaRPr>
          </a:p>
          <a:p>
            <a:pPr marL="0" lvl="0" indent="0" algn="l" rtl="0">
              <a:spcBef>
                <a:spcPts val="1600"/>
              </a:spcBef>
              <a:spcAft>
                <a:spcPts val="0"/>
              </a:spcAft>
              <a:buClr>
                <a:schemeClr val="dk1"/>
              </a:buClr>
              <a:buSzPts val="1100"/>
              <a:buFont typeface="Arial"/>
              <a:buNone/>
            </a:pPr>
            <a:r>
              <a:rPr lang="en-GB" sz="1400" dirty="0">
                <a:solidFill>
                  <a:schemeClr val="tx1"/>
                </a:solidFill>
                <a:highlight>
                  <a:srgbClr val="FFFFFF"/>
                </a:highlight>
              </a:rPr>
              <a:t>[5] </a:t>
            </a:r>
            <a:r>
              <a:rPr lang="en-GB" sz="1400" dirty="0" err="1">
                <a:solidFill>
                  <a:schemeClr val="tx1"/>
                </a:solidFill>
                <a:highlight>
                  <a:srgbClr val="FFFFFF"/>
                </a:highlight>
              </a:rPr>
              <a:t>Koibuchi</a:t>
            </a:r>
            <a:r>
              <a:rPr lang="en-GB" sz="1400" dirty="0">
                <a:solidFill>
                  <a:schemeClr val="tx1"/>
                </a:solidFill>
                <a:highlight>
                  <a:srgbClr val="FFFFFF"/>
                </a:highlight>
              </a:rPr>
              <a:t>, </a:t>
            </a:r>
            <a:r>
              <a:rPr lang="en-GB" sz="1400" dirty="0" err="1">
                <a:solidFill>
                  <a:schemeClr val="tx1"/>
                </a:solidFill>
                <a:highlight>
                  <a:srgbClr val="FFFFFF"/>
                </a:highlight>
              </a:rPr>
              <a:t>Michihiro</a:t>
            </a:r>
            <a:r>
              <a:rPr lang="en-GB" sz="1400" dirty="0">
                <a:solidFill>
                  <a:schemeClr val="tx1"/>
                </a:solidFill>
                <a:highlight>
                  <a:srgbClr val="FFFFFF"/>
                </a:highlight>
              </a:rPr>
              <a:t>, et al. "A case for random shortcut topologies for HPC interconnects." 2012 39th Annual International Symposium on Computer Architecture (ISCA). IEEE, June, 2012.</a:t>
            </a:r>
            <a:endParaRPr sz="1400" dirty="0">
              <a:solidFill>
                <a:schemeClr val="tx1"/>
              </a:solidFill>
            </a:endParaRPr>
          </a:p>
          <a:p>
            <a:pPr marL="0" lvl="0" indent="0" algn="l" rtl="0">
              <a:spcBef>
                <a:spcPts val="1600"/>
              </a:spcBef>
              <a:spcAft>
                <a:spcPts val="0"/>
              </a:spcAft>
              <a:buNone/>
            </a:pPr>
            <a:r>
              <a:rPr lang="en-GB" sz="1400" dirty="0">
                <a:solidFill>
                  <a:schemeClr val="tx1"/>
                </a:solidFill>
              </a:rPr>
              <a:t>[6] </a:t>
            </a:r>
            <a:r>
              <a:rPr lang="en-GB" sz="1400" dirty="0" err="1">
                <a:solidFill>
                  <a:schemeClr val="tx1"/>
                </a:solidFill>
                <a:highlight>
                  <a:srgbClr val="FFFFFF"/>
                </a:highlight>
              </a:rPr>
              <a:t>Reviriego</a:t>
            </a:r>
            <a:r>
              <a:rPr lang="en-GB" sz="1400" dirty="0">
                <a:solidFill>
                  <a:schemeClr val="tx1"/>
                </a:solidFill>
                <a:highlight>
                  <a:srgbClr val="FFFFFF"/>
                </a:highlight>
              </a:rPr>
              <a:t>, Pedro, et al. "Performance evaluation of energy efficient ethernet." IEEE Communications Letters, September, 2009: 697-699.</a:t>
            </a:r>
            <a:endParaRPr sz="1400" dirty="0">
              <a:solidFill>
                <a:schemeClr val="tx1"/>
              </a:solidFill>
              <a:highlight>
                <a:srgbClr val="FFFFFF"/>
              </a:highlight>
            </a:endParaRPr>
          </a:p>
          <a:p>
            <a:pPr marL="0" lvl="0" indent="0" algn="l" rtl="0">
              <a:spcBef>
                <a:spcPts val="1600"/>
              </a:spcBef>
              <a:spcAft>
                <a:spcPts val="0"/>
              </a:spcAft>
              <a:buNone/>
            </a:pPr>
            <a:endParaRPr sz="1400" dirty="0">
              <a:solidFill>
                <a:srgbClr val="222222"/>
              </a:solidFill>
              <a:highlight>
                <a:srgbClr val="FFFFFF"/>
              </a:highlight>
            </a:endParaRPr>
          </a:p>
          <a:p>
            <a:pPr marL="0" lvl="0" indent="0" algn="l" rtl="0">
              <a:spcBef>
                <a:spcPts val="1600"/>
              </a:spcBef>
              <a:spcAft>
                <a:spcPts val="0"/>
              </a:spcAft>
              <a:buNone/>
            </a:pPr>
            <a:endParaRPr dirty="0">
              <a:solidFill>
                <a:schemeClr val="dk1"/>
              </a:solidFill>
            </a:endParaRPr>
          </a:p>
          <a:p>
            <a:pPr marL="0" lvl="0" indent="0" algn="l" rtl="0">
              <a:spcBef>
                <a:spcPts val="1600"/>
              </a:spcBef>
              <a:spcAft>
                <a:spcPts val="1600"/>
              </a:spcAft>
              <a:buNone/>
            </a:pPr>
            <a:endParaRPr dirty="0"/>
          </a:p>
        </p:txBody>
      </p:sp>
      <p:sp>
        <p:nvSpPr>
          <p:cNvPr id="114" name="Google Shape;114;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1"/>
          <p:cNvSpPr txBox="1">
            <a:spLocks noGrp="1"/>
          </p:cNvSpPr>
          <p:nvPr>
            <p:ph type="title"/>
          </p:nvPr>
        </p:nvSpPr>
        <p:spPr>
          <a:xfrm>
            <a:off x="311700" y="86683"/>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References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113" name="Google Shape;113;p21"/>
          <p:cNvSpPr txBox="1">
            <a:spLocks noGrp="1"/>
          </p:cNvSpPr>
          <p:nvPr>
            <p:ph type="body" idx="1"/>
          </p:nvPr>
        </p:nvSpPr>
        <p:spPr>
          <a:xfrm>
            <a:off x="311700" y="659383"/>
            <a:ext cx="8520600" cy="4183550"/>
          </a:xfrm>
          <a:prstGeom prst="rect">
            <a:avLst/>
          </a:prstGeom>
        </p:spPr>
        <p:txBody>
          <a:bodyPr spcFirstLastPara="1" wrap="square" lIns="91425" tIns="91425" rIns="91425" bIns="91425" anchor="t" anchorCtr="0">
            <a:noAutofit/>
          </a:bodyPr>
          <a:lstStyle/>
          <a:p>
            <a:pPr marL="0" lvl="0" indent="0">
              <a:buNone/>
            </a:pPr>
            <a:r>
              <a:rPr lang="en-GB" sz="1400" dirty="0">
                <a:solidFill>
                  <a:schemeClr val="tx1"/>
                </a:solidFill>
              </a:rPr>
              <a:t>[7] </a:t>
            </a:r>
            <a:r>
              <a:rPr lang="en-US" sz="1400" dirty="0">
                <a:solidFill>
                  <a:schemeClr val="tx1"/>
                </a:solidFill>
              </a:rPr>
              <a:t>Rawat DB, Reddy SR. Software defined networking architecture, security and energy efficiency: A survey. IEEE Communications Surveys &amp; Tutorials. January, 2017</a:t>
            </a:r>
          </a:p>
          <a:p>
            <a:pPr marL="0" lvl="0" indent="0">
              <a:buNone/>
            </a:pPr>
            <a:endParaRPr lang="en-US" sz="1400" dirty="0">
              <a:solidFill>
                <a:schemeClr val="tx1"/>
              </a:solidFill>
            </a:endParaRPr>
          </a:p>
          <a:p>
            <a:pPr marL="0" lvl="0" indent="0">
              <a:buNone/>
            </a:pPr>
            <a:r>
              <a:rPr lang="en-GB" sz="1400" dirty="0">
                <a:solidFill>
                  <a:schemeClr val="tx1"/>
                </a:solidFill>
              </a:rPr>
              <a:t>[8] </a:t>
            </a:r>
            <a:r>
              <a:rPr lang="en-US" sz="1400" dirty="0">
                <a:solidFill>
                  <a:schemeClr val="tx1"/>
                </a:solidFill>
              </a:rPr>
              <a:t>Stampa G, et al. A deep-reinforcement learning approach for software-defined networking routing optimization. </a:t>
            </a:r>
            <a:r>
              <a:rPr lang="en-US" sz="1400" dirty="0" err="1">
                <a:solidFill>
                  <a:schemeClr val="tx1"/>
                </a:solidFill>
              </a:rPr>
              <a:t>arXiv</a:t>
            </a:r>
            <a:r>
              <a:rPr lang="en-US" sz="1400" dirty="0">
                <a:solidFill>
                  <a:schemeClr val="tx1"/>
                </a:solidFill>
              </a:rPr>
              <a:t> preprint arXiv:1709.07080. September, 2017.</a:t>
            </a:r>
          </a:p>
          <a:p>
            <a:pPr marL="0" lvl="0" indent="0">
              <a:buNone/>
            </a:pPr>
            <a:endParaRPr lang="en-US" sz="1400" dirty="0">
              <a:solidFill>
                <a:schemeClr val="tx1"/>
              </a:solidFill>
            </a:endParaRPr>
          </a:p>
          <a:p>
            <a:pPr marL="0" lvl="0" indent="0">
              <a:buNone/>
            </a:pPr>
            <a:r>
              <a:rPr lang="en-GB" sz="1400" dirty="0">
                <a:solidFill>
                  <a:schemeClr val="tx1"/>
                </a:solidFill>
              </a:rPr>
              <a:t>[9] </a:t>
            </a:r>
            <a:r>
              <a:rPr lang="en-US" sz="1400" dirty="0" err="1">
                <a:solidFill>
                  <a:schemeClr val="tx1"/>
                </a:solidFill>
              </a:rPr>
              <a:t>Xie</a:t>
            </a:r>
            <a:r>
              <a:rPr lang="en-US" sz="1400" dirty="0">
                <a:solidFill>
                  <a:schemeClr val="tx1"/>
                </a:solidFill>
              </a:rPr>
              <a:t> J, et al. A survey of machine learning techniques applied to software defined networking (SDN): Research issues and challenges. IEEE Communications Surveys &amp; Tutorials. August, 2018.</a:t>
            </a:r>
            <a:r>
              <a:rPr lang="en-GB" sz="1400" dirty="0">
                <a:solidFill>
                  <a:schemeClr val="tx1"/>
                </a:solidFill>
              </a:rPr>
              <a:t> </a:t>
            </a:r>
          </a:p>
          <a:p>
            <a:pPr marL="0" lvl="0" indent="0">
              <a:buNone/>
            </a:pPr>
            <a:endParaRPr lang="en-GB" sz="1400" dirty="0">
              <a:solidFill>
                <a:schemeClr val="tx1"/>
              </a:solidFill>
            </a:endParaRPr>
          </a:p>
          <a:p>
            <a:pPr marL="0" lvl="0" indent="0">
              <a:buNone/>
            </a:pPr>
            <a:r>
              <a:rPr lang="en-GB" sz="1400" dirty="0">
                <a:solidFill>
                  <a:schemeClr val="tx1"/>
                </a:solidFill>
              </a:rPr>
              <a:t>[10] </a:t>
            </a:r>
            <a:r>
              <a:rPr lang="en-GB" sz="1400" dirty="0" err="1">
                <a:solidFill>
                  <a:schemeClr val="tx1"/>
                </a:solidFill>
              </a:rPr>
              <a:t>Aroca</a:t>
            </a:r>
            <a:r>
              <a:rPr lang="en-GB" sz="1400" dirty="0">
                <a:solidFill>
                  <a:schemeClr val="tx1"/>
                </a:solidFill>
              </a:rPr>
              <a:t> J.A, </a:t>
            </a:r>
            <a:r>
              <a:rPr lang="en-US" sz="1400" dirty="0">
                <a:solidFill>
                  <a:schemeClr val="tx1"/>
                </a:solidFill>
              </a:rPr>
              <a:t>Structural issues and energy efficiency in data centers , PhD thesis, February, 2015</a:t>
            </a:r>
          </a:p>
          <a:p>
            <a:pPr marL="0" lvl="0" indent="0">
              <a:buNone/>
            </a:pPr>
            <a:endParaRPr lang="en-US" sz="1400" dirty="0">
              <a:solidFill>
                <a:schemeClr val="tx1"/>
              </a:solidFill>
            </a:endParaRPr>
          </a:p>
          <a:p>
            <a:pPr marL="0" lvl="0" indent="0">
              <a:buNone/>
            </a:pPr>
            <a:r>
              <a:rPr lang="en-US" sz="1400" dirty="0">
                <a:solidFill>
                  <a:schemeClr val="tx1"/>
                </a:solidFill>
                <a:highlight>
                  <a:srgbClr val="FFFFFF"/>
                </a:highlight>
              </a:rPr>
              <a:t>[</a:t>
            </a:r>
            <a:r>
              <a:rPr lang="en-GB" sz="1400" dirty="0">
                <a:solidFill>
                  <a:schemeClr val="tx1"/>
                </a:solidFill>
                <a:highlight>
                  <a:srgbClr val="FFFFFF"/>
                </a:highlight>
              </a:rPr>
              <a:t>11] </a:t>
            </a:r>
            <a:r>
              <a:rPr lang="en-US" sz="1400" dirty="0" err="1">
                <a:solidFill>
                  <a:schemeClr val="tx1"/>
                </a:solidFill>
                <a:highlight>
                  <a:srgbClr val="FFFFFF"/>
                </a:highlight>
              </a:rPr>
              <a:t>Abts</a:t>
            </a:r>
            <a:r>
              <a:rPr lang="en-US" sz="1400" dirty="0">
                <a:solidFill>
                  <a:schemeClr val="tx1"/>
                </a:solidFill>
                <a:highlight>
                  <a:srgbClr val="FFFFFF"/>
                </a:highlight>
              </a:rPr>
              <a:t>, Dennis, et al. "Energy proportional datacenter networks." ACM SIGARCH Computer Architecture News 38.3, January, 2010: 338-347.</a:t>
            </a:r>
          </a:p>
          <a:p>
            <a:pPr marL="0" lvl="0" indent="0">
              <a:buNone/>
            </a:pPr>
            <a:endParaRPr lang="en-US" sz="1400" dirty="0">
              <a:solidFill>
                <a:schemeClr val="tx1"/>
              </a:solidFill>
              <a:highlight>
                <a:srgbClr val="FFFFFF"/>
              </a:highlight>
            </a:endParaRPr>
          </a:p>
          <a:p>
            <a:pPr marL="0" lvl="0" indent="0">
              <a:buNone/>
            </a:pPr>
            <a:r>
              <a:rPr lang="en-US" sz="1400" dirty="0">
                <a:solidFill>
                  <a:schemeClr val="tx1"/>
                </a:solidFill>
                <a:highlight>
                  <a:srgbClr val="FFFFFF"/>
                </a:highlight>
              </a:rPr>
              <a:t>[12] </a:t>
            </a:r>
            <a:r>
              <a:rPr lang="en-US" sz="1400" dirty="0" err="1">
                <a:solidFill>
                  <a:schemeClr val="tx1"/>
                </a:solidFill>
                <a:highlight>
                  <a:srgbClr val="FFFFFF"/>
                </a:highlight>
              </a:rPr>
              <a:t>Dayarathna</a:t>
            </a:r>
            <a:r>
              <a:rPr lang="en-US" sz="1400" dirty="0">
                <a:solidFill>
                  <a:schemeClr val="tx1"/>
                </a:solidFill>
                <a:highlight>
                  <a:srgbClr val="FFFFFF"/>
                </a:highlight>
              </a:rPr>
              <a:t> M, et al. Data center energy consumption modeling: A survey. IEEE Communications Surveys &amp; Tutorials. January, 2016 :732-794.</a:t>
            </a:r>
            <a:endParaRPr dirty="0">
              <a:solidFill>
                <a:schemeClr val="tx1"/>
              </a:solidFill>
            </a:endParaRPr>
          </a:p>
          <a:p>
            <a:pPr marL="0" lvl="0" indent="0" algn="l" rtl="0">
              <a:spcBef>
                <a:spcPts val="1600"/>
              </a:spcBef>
              <a:spcAft>
                <a:spcPts val="1600"/>
              </a:spcAft>
              <a:buNone/>
            </a:pPr>
            <a:endParaRPr dirty="0"/>
          </a:p>
        </p:txBody>
      </p:sp>
      <p:sp>
        <p:nvSpPr>
          <p:cNvPr id="114" name="Google Shape;114;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19</a:t>
            </a:fld>
            <a:endParaRPr/>
          </a:p>
        </p:txBody>
      </p:sp>
    </p:spTree>
    <p:extLst>
      <p:ext uri="{BB962C8B-B14F-4D97-AF65-F5344CB8AC3E}">
        <p14:creationId xmlns:p14="http://schemas.microsoft.com/office/powerpoint/2010/main" val="28322858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D3C75-B659-4376-A383-ACB046AF4672}"/>
              </a:ext>
            </a:extLst>
          </p:cNvPr>
          <p:cNvSpPr>
            <a:spLocks noGrp="1"/>
          </p:cNvSpPr>
          <p:nvPr>
            <p:ph type="title"/>
          </p:nvPr>
        </p:nvSpPr>
        <p:spPr/>
        <p:txBody>
          <a:bodyPr/>
          <a:lstStyle/>
          <a:p>
            <a:r>
              <a:rPr lang="en-GB" dirty="0"/>
              <a:t>References</a:t>
            </a:r>
            <a:endParaRPr lang="en-US" dirty="0"/>
          </a:p>
        </p:txBody>
      </p:sp>
      <p:sp>
        <p:nvSpPr>
          <p:cNvPr id="3" name="Text Placeholder 2">
            <a:extLst>
              <a:ext uri="{FF2B5EF4-FFF2-40B4-BE49-F238E27FC236}">
                <a16:creationId xmlns:a16="http://schemas.microsoft.com/office/drawing/2014/main" id="{EB877287-9D46-452B-AE37-20D1933B3383}"/>
              </a:ext>
            </a:extLst>
          </p:cNvPr>
          <p:cNvSpPr>
            <a:spLocks noGrp="1"/>
          </p:cNvSpPr>
          <p:nvPr>
            <p:ph type="body" idx="1"/>
          </p:nvPr>
        </p:nvSpPr>
        <p:spPr/>
        <p:txBody>
          <a:bodyPr/>
          <a:lstStyle/>
          <a:p>
            <a:r>
              <a:rPr lang="en-US" dirty="0"/>
              <a:t>[13] Wang P, Wang T. Adaptive routing for sensor networks using reinforcement learning. In The Sixth IEEE International Conference on Computer and Information Technology (CIT'06) 2006 Sep 20 (pp. 219-219). IEEE.</a:t>
            </a:r>
          </a:p>
        </p:txBody>
      </p:sp>
      <p:sp>
        <p:nvSpPr>
          <p:cNvPr id="4" name="Slide Number Placeholder 3">
            <a:extLst>
              <a:ext uri="{FF2B5EF4-FFF2-40B4-BE49-F238E27FC236}">
                <a16:creationId xmlns:a16="http://schemas.microsoft.com/office/drawing/2014/main" id="{E90812EA-C026-43ED-A878-9F659F0F06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20</a:t>
            </a:fld>
            <a:endParaRPr lang="en-GB"/>
          </a:p>
        </p:txBody>
      </p:sp>
    </p:spTree>
    <p:extLst>
      <p:ext uri="{BB962C8B-B14F-4D97-AF65-F5344CB8AC3E}">
        <p14:creationId xmlns:p14="http://schemas.microsoft.com/office/powerpoint/2010/main" val="18343071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A4EB0BB-2AE8-4A4E-8DD9-7BFD32BCE3FB}"/>
              </a:ext>
            </a:extLst>
          </p:cNvPr>
          <p:cNvSpPr>
            <a:spLocks noGrp="1"/>
          </p:cNvSpPr>
          <p:nvPr>
            <p:ph type="title"/>
          </p:nvPr>
        </p:nvSpPr>
        <p:spPr/>
        <p:txBody>
          <a:bodyPr/>
          <a:lstStyle/>
          <a:p>
            <a:r>
              <a:rPr lang="en-US" dirty="0"/>
              <a:t>Thank you</a:t>
            </a:r>
          </a:p>
        </p:txBody>
      </p:sp>
      <p:sp>
        <p:nvSpPr>
          <p:cNvPr id="4" name="Slide Number Placeholder 3">
            <a:extLst>
              <a:ext uri="{FF2B5EF4-FFF2-40B4-BE49-F238E27FC236}">
                <a16:creationId xmlns:a16="http://schemas.microsoft.com/office/drawing/2014/main" id="{F4827E37-EA0A-4737-A358-273C211281C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21</a:t>
            </a:fld>
            <a:endParaRPr lang="en-GB"/>
          </a:p>
        </p:txBody>
      </p:sp>
    </p:spTree>
    <p:extLst>
      <p:ext uri="{BB962C8B-B14F-4D97-AF65-F5344CB8AC3E}">
        <p14:creationId xmlns:p14="http://schemas.microsoft.com/office/powerpoint/2010/main" val="71352441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651</TotalTime>
  <Words>1512</Words>
  <Application>Microsoft Office PowerPoint</Application>
  <PresentationFormat>On-screen Show (16:9)</PresentationFormat>
  <Paragraphs>142</Paragraphs>
  <Slides>21</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21</vt:i4>
      </vt:variant>
    </vt:vector>
  </HeadingPairs>
  <TitlesOfParts>
    <vt:vector size="23" baseType="lpstr">
      <vt:lpstr>Arial</vt:lpstr>
      <vt:lpstr>Simple Light</vt:lpstr>
      <vt:lpstr>Adaptive Routing for Saving Energy of Random shortcut Networks using Deep Reinforcement Learning</vt:lpstr>
      <vt:lpstr>Abstract</vt:lpstr>
      <vt:lpstr>Introduction (1)</vt:lpstr>
      <vt:lpstr>Introduction (2)</vt:lpstr>
      <vt:lpstr>Content</vt:lpstr>
      <vt:lpstr>2. Background </vt:lpstr>
      <vt:lpstr>2. Background (2)</vt:lpstr>
      <vt:lpstr>2.1 NP-complete and formal method </vt:lpstr>
      <vt:lpstr>2.1 NP-complete and formal method (2) </vt:lpstr>
      <vt:lpstr>2.2. Software Defined Network</vt:lpstr>
      <vt:lpstr>2.2. Software Defined Network (2)</vt:lpstr>
      <vt:lpstr>2.2. Machine Learning</vt:lpstr>
      <vt:lpstr>2.2. Machine Learning (2)</vt:lpstr>
      <vt:lpstr>3. Problem</vt:lpstr>
      <vt:lpstr>4. Related work</vt:lpstr>
      <vt:lpstr>5. Conclusion (1)</vt:lpstr>
      <vt:lpstr>5. Conclusion (2)</vt:lpstr>
      <vt:lpstr>References         </vt:lpstr>
      <vt:lpstr>References         </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Saving energy in random shortcut interconnection network</dc:title>
  <dc:creator>Tien Thanh</dc:creator>
  <cp:lastModifiedBy>Tien Thanh</cp:lastModifiedBy>
  <cp:revision>43</cp:revision>
  <dcterms:modified xsi:type="dcterms:W3CDTF">2019-04-23T13:46:58Z</dcterms:modified>
</cp:coreProperties>
</file>