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9"/>
  </p:notesMasterIdLst>
  <p:sldIdLst>
    <p:sldId id="273" r:id="rId2"/>
    <p:sldId id="256" r:id="rId3"/>
    <p:sldId id="257" r:id="rId4"/>
    <p:sldId id="258" r:id="rId5"/>
    <p:sldId id="259" r:id="rId6"/>
    <p:sldId id="260" r:id="rId7"/>
    <p:sldId id="261" r:id="rId8"/>
    <p:sldId id="267" r:id="rId9"/>
    <p:sldId id="266" r:id="rId10"/>
    <p:sldId id="265" r:id="rId11"/>
    <p:sldId id="268" r:id="rId12"/>
    <p:sldId id="272" r:id="rId13"/>
    <p:sldId id="269" r:id="rId14"/>
    <p:sldId id="271" r:id="rId15"/>
    <p:sldId id="263" r:id="rId16"/>
    <p:sldId id="264" r:id="rId17"/>
    <p:sldId id="270"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58013dee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58013dee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5671a1dfe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5671a1df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568128a8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568128a8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56948cd33b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56948cd33b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58297f165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58297f165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58297f165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58297f165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5211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58297f165c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58297f165c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0308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58297f165c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58297f165c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7295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2173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58167dac3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58167dac3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5671a1dfed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5671a1dfe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5671a1dfed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5671a1dfe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707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607DD-B114-4FA1-880C-9D92B034D729}"/>
              </a:ext>
            </a:extLst>
          </p:cNvPr>
          <p:cNvSpPr>
            <a:spLocks noGrp="1"/>
          </p:cNvSpPr>
          <p:nvPr>
            <p:ph type="ctrTitle"/>
          </p:nvPr>
        </p:nvSpPr>
        <p:spPr/>
        <p:txBody>
          <a:bodyPr/>
          <a:lstStyle/>
          <a:p>
            <a:r>
              <a:rPr lang="en-US" sz="3200" b="1" dirty="0"/>
              <a:t>Adaptive Routing for Saving Energy of Random shortcut Networks using Reinforcement Learning</a:t>
            </a:r>
            <a:endParaRPr lang="en-US" sz="3200" dirty="0"/>
          </a:p>
        </p:txBody>
      </p:sp>
      <p:sp>
        <p:nvSpPr>
          <p:cNvPr id="3" name="Subtitle 2">
            <a:extLst>
              <a:ext uri="{FF2B5EF4-FFF2-40B4-BE49-F238E27FC236}">
                <a16:creationId xmlns:a16="http://schemas.microsoft.com/office/drawing/2014/main" id="{187763EB-539A-4036-B681-9CE1F60D05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1461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a:p>
            <a:pPr marL="0" lvl="0" indent="0" algn="ctr" rtl="0">
              <a:spcBef>
                <a:spcPts val="0"/>
              </a:spcBef>
              <a:spcAft>
                <a:spcPts val="0"/>
              </a:spcAft>
              <a:buNone/>
            </a:pPr>
            <a:r>
              <a:rPr lang="en-GB"/>
              <a:t>Saving energy in random shortcut </a:t>
            </a:r>
            <a:r>
              <a:rPr lang="en-GB" strike="sngStrike"/>
              <a:t>interconnection </a:t>
            </a:r>
            <a:r>
              <a:rPr lang="en-GB"/>
              <a:t>network</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Nguyen Tien Thanh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800" b="1">
                <a:solidFill>
                  <a:schemeClr val="dk2"/>
                </a:solidFill>
              </a:rPr>
              <a:t>Abstract</a:t>
            </a:r>
            <a:endParaRPr b="1"/>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a:t>Random shortcut </a:t>
            </a:r>
            <a:r>
              <a:rPr lang="en-GB" strike="sngStrike"/>
              <a:t>interconnection </a:t>
            </a:r>
            <a:r>
              <a:rPr lang="en-GB"/>
              <a:t>network has better scalability, smaller diameter and lower latency when compared to regular network topologies. But this topology still has question about saving its energy, both at simulation and prototype. In this proposal, I propose a traffic routing approach for saving energy </a:t>
            </a:r>
            <a:r>
              <a:rPr lang="en-GB" strike="sngStrike"/>
              <a:t>mechanism based on on/off links and switches</a:t>
            </a:r>
            <a:r>
              <a:rPr lang="en-GB"/>
              <a:t>; this approach </a:t>
            </a:r>
            <a:r>
              <a:rPr lang="en-GB" strike="sngStrike"/>
              <a:t>mechanism </a:t>
            </a:r>
            <a:r>
              <a:rPr lang="en-GB"/>
              <a:t>chooses subset of network to stay active and then turns off redundant links </a:t>
            </a:r>
            <a:r>
              <a:rPr lang="en-GB" strike="sngStrike"/>
              <a:t>and switches</a:t>
            </a:r>
            <a:r>
              <a:rPr lang="en-GB"/>
              <a:t>. I hope my proposal can save up to 50% of network energy and therefore justify using random interconnection topology.</a:t>
            </a:r>
            <a:endParaRPr/>
          </a:p>
        </p:txBody>
      </p:sp>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Introduction</a:t>
            </a:r>
            <a:endParaRPr/>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t>Random shortcut network </a:t>
            </a:r>
            <a:r>
              <a:rPr lang="en-GB" strike="sngStrike"/>
              <a:t>interconnection topology</a:t>
            </a:r>
            <a:r>
              <a:rPr lang="en-GB"/>
              <a:t> has better scalability, smaller diameter, lower latency when compared to regular network topologies [R5]. </a:t>
            </a:r>
            <a:endParaRPr/>
          </a:p>
          <a:p>
            <a:pPr marL="0" lvl="0" indent="0" algn="l" rtl="0">
              <a:spcBef>
                <a:spcPts val="1600"/>
              </a:spcBef>
              <a:spcAft>
                <a:spcPts val="0"/>
              </a:spcAft>
              <a:buClr>
                <a:schemeClr val="dk1"/>
              </a:buClr>
              <a:buSzPts val="1100"/>
              <a:buFont typeface="Arial"/>
              <a:buNone/>
            </a:pPr>
            <a:r>
              <a:rPr lang="en-GB"/>
              <a:t>But it has question about saving energy, both at simulation and prototype.</a:t>
            </a:r>
            <a:endParaRPr/>
          </a:p>
          <a:p>
            <a:pPr marL="0" lvl="0" indent="0" algn="l" rtl="0">
              <a:spcBef>
                <a:spcPts val="1600"/>
              </a:spcBef>
              <a:spcAft>
                <a:spcPts val="0"/>
              </a:spcAft>
              <a:buNone/>
            </a:pPr>
            <a:r>
              <a:rPr lang="en-GB"/>
              <a:t>Network devices consume up to 15% of data center’s energy [R1]. </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Clr>
                <a:schemeClr val="dk1"/>
              </a:buClr>
              <a:buSzPts val="1100"/>
              <a:buFont typeface="Arial"/>
              <a:buNone/>
            </a:pPr>
            <a:endParaRPr/>
          </a:p>
        </p:txBody>
      </p:sp>
      <p:pic>
        <p:nvPicPr>
          <p:cNvPr id="69" name="Google Shape;69;p15"/>
          <p:cNvPicPr preferRelativeResize="0"/>
          <p:nvPr/>
        </p:nvPicPr>
        <p:blipFill>
          <a:blip r:embed="rId3">
            <a:alphaModFix/>
          </a:blip>
          <a:stretch>
            <a:fillRect/>
          </a:stretch>
        </p:blipFill>
        <p:spPr>
          <a:xfrm>
            <a:off x="1290625" y="3014533"/>
            <a:ext cx="6562725" cy="1554330"/>
          </a:xfrm>
          <a:prstGeom prst="rect">
            <a:avLst/>
          </a:prstGeom>
          <a:noFill/>
          <a:ln>
            <a:noFill/>
          </a:ln>
        </p:spPr>
      </p:pic>
      <p:sp>
        <p:nvSpPr>
          <p:cNvPr id="70" name="Google Shape;7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Introduction</a:t>
            </a:r>
            <a:endParaRPr/>
          </a:p>
        </p:txBody>
      </p:sp>
      <p:sp>
        <p:nvSpPr>
          <p:cNvPr id="76" name="Google Shape;76;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IEEE Energy Efficient Ethernet standard (IEEE 802.3az) proposes power-saving mechanism by turning on/off links in a few microseconds [R6]</a:t>
            </a:r>
            <a:endParaRPr/>
          </a:p>
          <a:p>
            <a:pPr marL="0" lvl="0" indent="0" algn="l" rtl="0">
              <a:spcBef>
                <a:spcPts val="1600"/>
              </a:spcBef>
              <a:spcAft>
                <a:spcPts val="0"/>
              </a:spcAft>
              <a:buNone/>
            </a:pPr>
            <a:r>
              <a:rPr lang="en-GB"/>
              <a:t>Given the recent advancement of IEEE 802.3az, a question arises how to choose a subset of network that can still route data to all nodes. </a:t>
            </a:r>
            <a:endParaRPr/>
          </a:p>
          <a:p>
            <a:pPr marL="0" lvl="0" indent="0" algn="l" rtl="0">
              <a:spcBef>
                <a:spcPts val="1600"/>
              </a:spcBef>
              <a:spcAft>
                <a:spcPts val="0"/>
              </a:spcAft>
              <a:buNone/>
            </a:pPr>
            <a:r>
              <a:rPr lang="en-GB"/>
              <a:t>Many approaches concentrate on saving energy of torus [R2], Fat Tree [R3] or both of them [R4] by turning off redundant links and ports.</a:t>
            </a:r>
            <a:endParaRPr/>
          </a:p>
          <a:p>
            <a:pPr marL="0" lvl="0" indent="0" algn="l" rtl="0">
              <a:spcBef>
                <a:spcPts val="1600"/>
              </a:spcBef>
              <a:spcAft>
                <a:spcPts val="0"/>
              </a:spcAft>
              <a:buClr>
                <a:schemeClr val="dk1"/>
              </a:buClr>
              <a:buSzPts val="1100"/>
              <a:buFont typeface="Arial"/>
              <a:buNone/>
            </a:pPr>
            <a:r>
              <a:rPr lang="en-GB"/>
              <a:t>Finding optimal traffic routing solution (that satisfies traffic constraints) is a NP-complete problem [R3]</a:t>
            </a:r>
            <a:endParaRPr/>
          </a:p>
          <a:p>
            <a:pPr marL="0" lvl="0" indent="0" algn="l" rtl="0">
              <a:spcBef>
                <a:spcPts val="1600"/>
              </a:spcBef>
              <a:spcAft>
                <a:spcPts val="1600"/>
              </a:spcAft>
              <a:buNone/>
            </a:pPr>
            <a:endParaRPr/>
          </a:p>
        </p:txBody>
      </p:sp>
      <p:sp>
        <p:nvSpPr>
          <p:cNvPr id="77" name="Google Shape;7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Content</a:t>
            </a:r>
            <a:endParaRPr/>
          </a:p>
        </p:txBody>
      </p:sp>
      <p:sp>
        <p:nvSpPr>
          <p:cNvPr id="83" name="Google Shape;83;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GB" dirty="0"/>
              <a:t>Introduction</a:t>
            </a:r>
            <a:endParaRPr dirty="0"/>
          </a:p>
          <a:p>
            <a:pPr marL="457200" lvl="0" indent="-342900" algn="l" rtl="0">
              <a:spcBef>
                <a:spcPts val="0"/>
              </a:spcBef>
              <a:spcAft>
                <a:spcPts val="0"/>
              </a:spcAft>
              <a:buSzPts val="1800"/>
              <a:buAutoNum type="arabicPeriod"/>
            </a:pPr>
            <a:r>
              <a:rPr lang="en-GB" dirty="0"/>
              <a:t>Background</a:t>
            </a:r>
            <a:endParaRPr dirty="0"/>
          </a:p>
          <a:p>
            <a:pPr marL="914400" lvl="1" indent="-317500" algn="l" rtl="0">
              <a:spcBef>
                <a:spcPts val="0"/>
              </a:spcBef>
              <a:spcAft>
                <a:spcPts val="0"/>
              </a:spcAft>
              <a:buSzPts val="1400"/>
              <a:buAutoNum type="alphaLcPeriod"/>
            </a:pPr>
            <a:r>
              <a:rPr lang="en-GB" dirty="0"/>
              <a:t>NP-Complete and formal method</a:t>
            </a:r>
            <a:endParaRPr dirty="0"/>
          </a:p>
          <a:p>
            <a:pPr marL="914400" lvl="1" indent="-317500" algn="l" rtl="0">
              <a:spcBef>
                <a:spcPts val="0"/>
              </a:spcBef>
              <a:spcAft>
                <a:spcPts val="0"/>
              </a:spcAft>
              <a:buSzPts val="1400"/>
              <a:buAutoNum type="alphaLcPeriod"/>
            </a:pPr>
            <a:r>
              <a:rPr lang="en-GB" dirty="0"/>
              <a:t>Software Defined Network</a:t>
            </a:r>
            <a:endParaRPr dirty="0"/>
          </a:p>
          <a:p>
            <a:pPr marL="914400" lvl="1" indent="-317500" algn="l" rtl="0">
              <a:spcBef>
                <a:spcPts val="0"/>
              </a:spcBef>
              <a:spcAft>
                <a:spcPts val="0"/>
              </a:spcAft>
              <a:buSzPts val="1400"/>
              <a:buAutoNum type="alphaLcPeriod"/>
            </a:pPr>
            <a:r>
              <a:rPr lang="en-GB" dirty="0"/>
              <a:t>Machine learning</a:t>
            </a:r>
            <a:endParaRPr dirty="0"/>
          </a:p>
          <a:p>
            <a:pPr marL="457200" lvl="0" indent="-342900" algn="l" rtl="0">
              <a:spcBef>
                <a:spcPts val="0"/>
              </a:spcBef>
              <a:spcAft>
                <a:spcPts val="0"/>
              </a:spcAft>
              <a:buSzPts val="1800"/>
              <a:buAutoNum type="arabicPeriod"/>
            </a:pPr>
            <a:r>
              <a:rPr lang="en-GB" dirty="0"/>
              <a:t>Methodology</a:t>
            </a:r>
            <a:endParaRPr dirty="0"/>
          </a:p>
          <a:p>
            <a:pPr marL="457200" lvl="0" indent="-342900" algn="l" rtl="0">
              <a:spcBef>
                <a:spcPts val="0"/>
              </a:spcBef>
              <a:spcAft>
                <a:spcPts val="0"/>
              </a:spcAft>
              <a:buSzPts val="1800"/>
              <a:buAutoNum type="arabicPeriod"/>
            </a:pPr>
            <a:r>
              <a:rPr lang="en-GB" dirty="0"/>
              <a:t>Related Work</a:t>
            </a:r>
            <a:endParaRPr dirty="0"/>
          </a:p>
          <a:p>
            <a:pPr marL="457200" lvl="0" indent="-342900" algn="l" rtl="0">
              <a:spcBef>
                <a:spcPts val="0"/>
              </a:spcBef>
              <a:spcAft>
                <a:spcPts val="0"/>
              </a:spcAft>
              <a:buSzPts val="1800"/>
              <a:buAutoNum type="arabicPeriod"/>
            </a:pPr>
            <a:r>
              <a:rPr lang="en-GB" dirty="0"/>
              <a:t>Conclusion</a:t>
            </a:r>
            <a:endParaRPr dirty="0"/>
          </a:p>
        </p:txBody>
      </p:sp>
      <p:sp>
        <p:nvSpPr>
          <p:cNvPr id="84" name="Google Shape;84;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2. Background</a:t>
            </a:r>
            <a:endParaRPr/>
          </a:p>
        </p:txBody>
      </p:sp>
      <p:sp>
        <p:nvSpPr>
          <p:cNvPr id="90" name="Google Shape;90;p18"/>
          <p:cNvSpPr txBox="1">
            <a:spLocks noGrp="1"/>
          </p:cNvSpPr>
          <p:nvPr>
            <p:ph type="body" idx="1"/>
          </p:nvPr>
        </p:nvSpPr>
        <p:spPr>
          <a:xfrm>
            <a:off x="311700" y="1152475"/>
            <a:ext cx="8520600" cy="39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2.1 NP-complete and formal method</a:t>
            </a:r>
            <a:endParaRPr dirty="0"/>
          </a:p>
          <a:p>
            <a:pPr marL="0" lvl="0" indent="0" algn="l" rtl="0">
              <a:spcBef>
                <a:spcPts val="1600"/>
              </a:spcBef>
              <a:spcAft>
                <a:spcPts val="0"/>
              </a:spcAft>
              <a:buNone/>
            </a:pPr>
            <a:r>
              <a:rPr lang="en-GB" dirty="0"/>
              <a:t>Heller </a:t>
            </a:r>
            <a:r>
              <a:rPr lang="en-US" dirty="0"/>
              <a:t>[R3] </a:t>
            </a:r>
            <a:r>
              <a:rPr lang="en-GB" dirty="0"/>
              <a:t>modelled total network energy consumption:</a:t>
            </a:r>
            <a:endParaRPr dirty="0"/>
          </a:p>
          <a:p>
            <a:pPr marL="0" lvl="0" indent="0" algn="l" rtl="0">
              <a:spcBef>
                <a:spcPts val="1600"/>
              </a:spcBef>
              <a:spcAft>
                <a:spcPts val="0"/>
              </a:spcAft>
              <a:buNone/>
            </a:pPr>
            <a:r>
              <a:rPr lang="en-GB" dirty="0"/>
              <a:t>                                                                               (1)</a:t>
            </a:r>
            <a:endParaRPr dirty="0"/>
          </a:p>
          <a:p>
            <a:pPr marL="0" lvl="0" indent="0" algn="l" rtl="0">
              <a:spcBef>
                <a:spcPts val="1600"/>
              </a:spcBef>
              <a:spcAft>
                <a:spcPts val="0"/>
              </a:spcAft>
              <a:buNone/>
            </a:pPr>
            <a:r>
              <a:rPr lang="en-GB" dirty="0">
                <a:solidFill>
                  <a:schemeClr val="bg1"/>
                </a:solidFill>
              </a:rPr>
              <a:t>Minimizing (1) while satisfying all traffic constraints is NP-complete problem.</a:t>
            </a:r>
            <a:endParaRPr dirty="0">
              <a:solidFill>
                <a:schemeClr val="bg1"/>
              </a:solidFill>
            </a:endParaRPr>
          </a:p>
          <a:p>
            <a:pPr marL="0" lvl="0" indent="0" algn="l" rtl="0">
              <a:spcBef>
                <a:spcPts val="1600"/>
              </a:spcBef>
              <a:spcAft>
                <a:spcPts val="0"/>
              </a:spcAft>
              <a:buNone/>
            </a:pPr>
            <a:r>
              <a:rPr lang="en-GB" dirty="0">
                <a:solidFill>
                  <a:schemeClr val="bg1"/>
                </a:solidFill>
              </a:rPr>
              <a:t>Authors proposed a formal method in order to produce solutions closest to optimal but this method has complexity O(n</a:t>
            </a:r>
            <a:r>
              <a:rPr lang="en-GB" baseline="30000" dirty="0">
                <a:solidFill>
                  <a:schemeClr val="bg1"/>
                </a:solidFill>
              </a:rPr>
              <a:t>3.5</a:t>
            </a:r>
            <a:r>
              <a:rPr lang="en-GB" dirty="0">
                <a:solidFill>
                  <a:schemeClr val="bg1"/>
                </a:solidFill>
              </a:rPr>
              <a:t>).</a:t>
            </a:r>
            <a:endParaRPr dirty="0">
              <a:solidFill>
                <a:schemeClr val="bg1"/>
              </a:solidFill>
            </a:endParaRPr>
          </a:p>
          <a:p>
            <a:pPr marL="0" lvl="0" indent="0" algn="l" rtl="0">
              <a:spcBef>
                <a:spcPts val="1600"/>
              </a:spcBef>
              <a:spcAft>
                <a:spcPts val="1600"/>
              </a:spcAft>
              <a:buNone/>
            </a:pPr>
            <a:r>
              <a:rPr lang="en-GB" dirty="0">
                <a:solidFill>
                  <a:schemeClr val="bg1"/>
                </a:solidFill>
              </a:rPr>
              <a:t>Authors then proposed two heuristic methods with complexities O(n</a:t>
            </a:r>
            <a:r>
              <a:rPr lang="en-GB" baseline="30000" dirty="0">
                <a:solidFill>
                  <a:schemeClr val="bg1"/>
                </a:solidFill>
              </a:rPr>
              <a:t>2</a:t>
            </a:r>
            <a:r>
              <a:rPr lang="en-GB" dirty="0">
                <a:solidFill>
                  <a:schemeClr val="bg1"/>
                </a:solidFill>
              </a:rPr>
              <a:t>) and O(n) respectively.</a:t>
            </a:r>
            <a:endParaRPr dirty="0">
              <a:solidFill>
                <a:schemeClr val="bg1"/>
              </a:solidFill>
            </a:endParaRPr>
          </a:p>
        </p:txBody>
      </p:sp>
      <p:sp>
        <p:nvSpPr>
          <p:cNvPr id="91" name="Google Shape;9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7</a:t>
            </a:fld>
            <a:endParaRPr/>
          </a:p>
        </p:txBody>
      </p:sp>
      <p:pic>
        <p:nvPicPr>
          <p:cNvPr id="92" name="Google Shape;92;p18"/>
          <p:cNvPicPr preferRelativeResize="0"/>
          <p:nvPr/>
        </p:nvPicPr>
        <p:blipFill>
          <a:blip r:embed="rId3">
            <a:alphaModFix/>
          </a:blip>
          <a:stretch>
            <a:fillRect/>
          </a:stretch>
        </p:blipFill>
        <p:spPr>
          <a:xfrm>
            <a:off x="2154444" y="2065740"/>
            <a:ext cx="3049734" cy="846793"/>
          </a:xfrm>
          <a:prstGeom prst="rect">
            <a:avLst/>
          </a:prstGeom>
          <a:noFill/>
          <a:ln>
            <a:noFill/>
          </a:ln>
        </p:spPr>
      </p:pic>
      <p:pic>
        <p:nvPicPr>
          <p:cNvPr id="3" name="Picture 2">
            <a:extLst>
              <a:ext uri="{FF2B5EF4-FFF2-40B4-BE49-F238E27FC236}">
                <a16:creationId xmlns:a16="http://schemas.microsoft.com/office/drawing/2014/main" id="{77A41FB4-CE21-452A-84AA-8F5E96E5186C}"/>
              </a:ext>
            </a:extLst>
          </p:cNvPr>
          <p:cNvPicPr>
            <a:picLocks noChangeAspect="1"/>
          </p:cNvPicPr>
          <p:nvPr/>
        </p:nvPicPr>
        <p:blipFill>
          <a:blip r:embed="rId4"/>
          <a:stretch>
            <a:fillRect/>
          </a:stretch>
        </p:blipFill>
        <p:spPr>
          <a:xfrm>
            <a:off x="1670754" y="2854080"/>
            <a:ext cx="5091995" cy="20059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2. Background</a:t>
            </a:r>
            <a:endParaRPr/>
          </a:p>
        </p:txBody>
      </p:sp>
      <p:sp>
        <p:nvSpPr>
          <p:cNvPr id="90" name="Google Shape;90;p18"/>
          <p:cNvSpPr txBox="1">
            <a:spLocks noGrp="1"/>
          </p:cNvSpPr>
          <p:nvPr>
            <p:ph type="body" idx="1"/>
          </p:nvPr>
        </p:nvSpPr>
        <p:spPr>
          <a:xfrm>
            <a:off x="311700" y="1152475"/>
            <a:ext cx="8520600" cy="39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2.1 NP-complete and formal method</a:t>
            </a:r>
            <a:endParaRPr dirty="0"/>
          </a:p>
          <a:p>
            <a:pPr marL="0" lvl="0" indent="0" algn="l" rtl="0">
              <a:spcBef>
                <a:spcPts val="1600"/>
              </a:spcBef>
              <a:spcAft>
                <a:spcPts val="0"/>
              </a:spcAft>
              <a:buNone/>
            </a:pPr>
            <a:r>
              <a:rPr lang="en-GB" dirty="0"/>
              <a:t>Heller </a:t>
            </a:r>
            <a:r>
              <a:rPr lang="en-US" dirty="0"/>
              <a:t>[R3] </a:t>
            </a:r>
            <a:r>
              <a:rPr lang="en-GB" dirty="0"/>
              <a:t>modelled total network energy consumption:</a:t>
            </a:r>
            <a:endParaRPr dirty="0"/>
          </a:p>
          <a:p>
            <a:pPr marL="0" lvl="0" indent="0" algn="l" rtl="0">
              <a:spcBef>
                <a:spcPts val="1600"/>
              </a:spcBef>
              <a:spcAft>
                <a:spcPts val="0"/>
              </a:spcAft>
              <a:buNone/>
            </a:pPr>
            <a:r>
              <a:rPr lang="en-GB" dirty="0"/>
              <a:t>                                                                               (1)</a:t>
            </a:r>
            <a:endParaRPr dirty="0"/>
          </a:p>
          <a:p>
            <a:pPr marL="0" lvl="0" indent="0" algn="l" rtl="0">
              <a:spcBef>
                <a:spcPts val="1600"/>
              </a:spcBef>
              <a:spcAft>
                <a:spcPts val="0"/>
              </a:spcAft>
              <a:buNone/>
            </a:pPr>
            <a:endParaRPr lang="en-GB" dirty="0"/>
          </a:p>
          <a:p>
            <a:pPr marL="0" lvl="0" indent="0" algn="l" rtl="0">
              <a:spcBef>
                <a:spcPts val="600"/>
              </a:spcBef>
              <a:spcAft>
                <a:spcPts val="0"/>
              </a:spcAft>
              <a:buNone/>
            </a:pPr>
            <a:r>
              <a:rPr lang="en-GB" dirty="0"/>
              <a:t>Minimizing (1) while satisfying all traffic constraints is NP-complete problem.</a:t>
            </a:r>
            <a:endParaRPr dirty="0"/>
          </a:p>
          <a:p>
            <a:pPr marL="0" lvl="0" indent="0" algn="l" rtl="0">
              <a:spcBef>
                <a:spcPts val="600"/>
              </a:spcBef>
              <a:spcAft>
                <a:spcPts val="0"/>
              </a:spcAft>
              <a:buNone/>
            </a:pPr>
            <a:r>
              <a:rPr lang="en-GB" dirty="0"/>
              <a:t>Authors proposed a formal method in order to produce solutions closest to optimal but this method has complexity O(n</a:t>
            </a:r>
            <a:r>
              <a:rPr lang="en-GB" baseline="30000" dirty="0"/>
              <a:t>3.5</a:t>
            </a:r>
            <a:r>
              <a:rPr lang="en-GB" dirty="0"/>
              <a:t>).</a:t>
            </a:r>
            <a:endParaRPr dirty="0"/>
          </a:p>
          <a:p>
            <a:pPr marL="0" lvl="0" indent="0" algn="l" rtl="0">
              <a:spcBef>
                <a:spcPts val="600"/>
              </a:spcBef>
              <a:spcAft>
                <a:spcPts val="1600"/>
              </a:spcAft>
              <a:buNone/>
            </a:pPr>
            <a:r>
              <a:rPr lang="en-GB" dirty="0"/>
              <a:t>Authors then proposed two heuristic methods with complexities O(n</a:t>
            </a:r>
            <a:r>
              <a:rPr lang="en-GB" baseline="30000" dirty="0"/>
              <a:t>2</a:t>
            </a:r>
            <a:r>
              <a:rPr lang="en-GB" dirty="0"/>
              <a:t>) and O(n) respectively.</a:t>
            </a:r>
            <a:endParaRPr dirty="0"/>
          </a:p>
        </p:txBody>
      </p:sp>
      <p:sp>
        <p:nvSpPr>
          <p:cNvPr id="91" name="Google Shape;9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8</a:t>
            </a:fld>
            <a:endParaRPr/>
          </a:p>
        </p:txBody>
      </p:sp>
      <p:pic>
        <p:nvPicPr>
          <p:cNvPr id="7" name="Google Shape;92;p18">
            <a:extLst>
              <a:ext uri="{FF2B5EF4-FFF2-40B4-BE49-F238E27FC236}">
                <a16:creationId xmlns:a16="http://schemas.microsoft.com/office/drawing/2014/main" id="{022C2E0F-06BB-4D45-8DD2-11A1901F384E}"/>
              </a:ext>
            </a:extLst>
          </p:cNvPr>
          <p:cNvPicPr preferRelativeResize="0"/>
          <p:nvPr/>
        </p:nvPicPr>
        <p:blipFill>
          <a:blip r:embed="rId3">
            <a:alphaModFix/>
          </a:blip>
          <a:stretch>
            <a:fillRect/>
          </a:stretch>
        </p:blipFill>
        <p:spPr>
          <a:xfrm>
            <a:off x="2154444" y="2065740"/>
            <a:ext cx="3049734" cy="846793"/>
          </a:xfrm>
          <a:prstGeom prst="rect">
            <a:avLst/>
          </a:prstGeom>
          <a:noFill/>
          <a:ln>
            <a:noFill/>
          </a:ln>
        </p:spPr>
      </p:pic>
    </p:spTree>
    <p:extLst>
      <p:ext uri="{BB962C8B-B14F-4D97-AF65-F5344CB8AC3E}">
        <p14:creationId xmlns:p14="http://schemas.microsoft.com/office/powerpoint/2010/main" val="563630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800">
                <a:solidFill>
                  <a:schemeClr val="dk2"/>
                </a:solidFill>
              </a:rPr>
              <a:t>2.1 NP-complete and formal method</a:t>
            </a:r>
            <a:endParaRPr sz="1800">
              <a:solidFill>
                <a:schemeClr val="dk2"/>
              </a:solidFill>
            </a:endParaRPr>
          </a:p>
          <a:p>
            <a:pPr marL="0" lvl="0" indent="0" algn="l" rtl="0">
              <a:spcBef>
                <a:spcPts val="1600"/>
              </a:spcBef>
              <a:spcAft>
                <a:spcPts val="0"/>
              </a:spcAft>
              <a:buNone/>
            </a:pPr>
            <a:endParaRPr/>
          </a:p>
        </p:txBody>
      </p:sp>
      <p:sp>
        <p:nvSpPr>
          <p:cNvPr id="98" name="Google Shape;98;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spcAft>
                <a:spcPts val="1600"/>
              </a:spcAft>
              <a:buNone/>
            </a:pPr>
            <a:br>
              <a:rPr lang="en-US" dirty="0"/>
            </a:br>
            <a:endParaRPr lang="en-US" dirty="0"/>
          </a:p>
          <a:p>
            <a:pPr marL="0" lvl="0" indent="0" algn="l" rtl="0">
              <a:spcBef>
                <a:spcPts val="0"/>
              </a:spcBef>
              <a:spcAft>
                <a:spcPts val="1600"/>
              </a:spcAft>
              <a:buNone/>
            </a:pPr>
            <a:endParaRPr dirty="0"/>
          </a:p>
        </p:txBody>
      </p:sp>
      <p:sp>
        <p:nvSpPr>
          <p:cNvPr id="99" name="Google Shape;9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9</a:t>
            </a:fld>
            <a:endParaRPr/>
          </a:p>
        </p:txBody>
      </p:sp>
      <p:pic>
        <p:nvPicPr>
          <p:cNvPr id="100" name="Google Shape;100;p19"/>
          <p:cNvPicPr preferRelativeResize="0"/>
          <p:nvPr/>
        </p:nvPicPr>
        <p:blipFill>
          <a:blip r:embed="rId3">
            <a:alphaModFix/>
          </a:blip>
          <a:stretch>
            <a:fillRect/>
          </a:stretch>
        </p:blipFill>
        <p:spPr>
          <a:xfrm>
            <a:off x="533850" y="847672"/>
            <a:ext cx="7938600" cy="2074050"/>
          </a:xfrm>
          <a:prstGeom prst="rect">
            <a:avLst/>
          </a:prstGeom>
          <a:noFill/>
          <a:ln>
            <a:noFill/>
          </a:ln>
        </p:spPr>
      </p:pic>
    </p:spTree>
    <p:extLst>
      <p:ext uri="{BB962C8B-B14F-4D97-AF65-F5344CB8AC3E}">
        <p14:creationId xmlns:p14="http://schemas.microsoft.com/office/powerpoint/2010/main" val="1633131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800">
                <a:solidFill>
                  <a:schemeClr val="dk2"/>
                </a:solidFill>
              </a:rPr>
              <a:t>2.1 NP-complete and formal method</a:t>
            </a:r>
            <a:endParaRPr sz="1800">
              <a:solidFill>
                <a:schemeClr val="dk2"/>
              </a:solidFill>
            </a:endParaRPr>
          </a:p>
          <a:p>
            <a:pPr marL="0" lvl="0" indent="0" algn="l" rtl="0">
              <a:spcBef>
                <a:spcPts val="1600"/>
              </a:spcBef>
              <a:spcAft>
                <a:spcPts val="0"/>
              </a:spcAft>
              <a:buNone/>
            </a:pPr>
            <a:endParaRPr/>
          </a:p>
        </p:txBody>
      </p:sp>
      <p:sp>
        <p:nvSpPr>
          <p:cNvPr id="98" name="Google Shape;98;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lgn="l" rtl="0">
              <a:spcBef>
                <a:spcPts val="0"/>
              </a:spcBef>
              <a:spcAft>
                <a:spcPts val="1600"/>
              </a:spcAft>
              <a:buNone/>
            </a:pPr>
            <a:endParaRPr lang="en-US" dirty="0"/>
          </a:p>
          <a:p>
            <a:pPr marL="0" lvl="0" indent="0">
              <a:spcAft>
                <a:spcPts val="1600"/>
              </a:spcAft>
              <a:buNone/>
            </a:pPr>
            <a:r>
              <a:rPr lang="en-US" dirty="0"/>
              <a:t>But authors mention nothing about discrepancy of network energy consumptions between two heuristic methods and formal method.</a:t>
            </a:r>
          </a:p>
          <a:p>
            <a:pPr marL="0" lvl="0" indent="0">
              <a:spcAft>
                <a:spcPts val="1600"/>
              </a:spcAft>
              <a:buNone/>
            </a:pPr>
            <a:r>
              <a:rPr lang="en-US" dirty="0"/>
              <a:t>Keep in mind that the formal method is not the best solution, it has </a:t>
            </a:r>
            <a:r>
              <a:rPr lang="en-US" u="sng" dirty="0"/>
              <a:t>bounded percentage from optimal, configured to 10%</a:t>
            </a:r>
            <a:r>
              <a:rPr lang="en-US" dirty="0"/>
              <a:t> [R3]</a:t>
            </a:r>
            <a:br>
              <a:rPr lang="en-US" dirty="0"/>
            </a:br>
            <a:endParaRPr lang="en-US" dirty="0"/>
          </a:p>
          <a:p>
            <a:pPr marL="0" lvl="0" indent="0" algn="l" rtl="0">
              <a:spcBef>
                <a:spcPts val="0"/>
              </a:spcBef>
              <a:spcAft>
                <a:spcPts val="1600"/>
              </a:spcAft>
              <a:buNone/>
            </a:pPr>
            <a:endParaRPr dirty="0"/>
          </a:p>
        </p:txBody>
      </p:sp>
      <p:sp>
        <p:nvSpPr>
          <p:cNvPr id="99" name="Google Shape;9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10</a:t>
            </a:fld>
            <a:endParaRPr/>
          </a:p>
        </p:txBody>
      </p:sp>
      <p:pic>
        <p:nvPicPr>
          <p:cNvPr id="100" name="Google Shape;100;p19"/>
          <p:cNvPicPr preferRelativeResize="0"/>
          <p:nvPr/>
        </p:nvPicPr>
        <p:blipFill>
          <a:blip r:embed="rId3">
            <a:alphaModFix/>
          </a:blip>
          <a:stretch>
            <a:fillRect/>
          </a:stretch>
        </p:blipFill>
        <p:spPr>
          <a:xfrm>
            <a:off x="533850" y="847672"/>
            <a:ext cx="7938600" cy="2074050"/>
          </a:xfrm>
          <a:prstGeom prst="rect">
            <a:avLst/>
          </a:prstGeom>
          <a:noFill/>
          <a:ln>
            <a:noFill/>
          </a:ln>
        </p:spPr>
      </p:pic>
      <p:sp>
        <p:nvSpPr>
          <p:cNvPr id="2" name="Rectangle 1">
            <a:extLst>
              <a:ext uri="{FF2B5EF4-FFF2-40B4-BE49-F238E27FC236}">
                <a16:creationId xmlns:a16="http://schemas.microsoft.com/office/drawing/2014/main" id="{015187F7-D7D9-4C6A-93F3-A910A2BC2AEA}"/>
              </a:ext>
            </a:extLst>
          </p:cNvPr>
          <p:cNvSpPr/>
          <p:nvPr/>
        </p:nvSpPr>
        <p:spPr>
          <a:xfrm>
            <a:off x="533850" y="1749775"/>
            <a:ext cx="7938600" cy="1329275"/>
          </a:xfrm>
          <a:prstGeom prst="rect">
            <a:avLst/>
          </a:prstGeom>
          <a:solidFill>
            <a:schemeClr val="accent1">
              <a:alpha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8978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7CE0E-D93D-44E5-83E8-716BC2303BFF}"/>
              </a:ext>
            </a:extLst>
          </p:cNvPr>
          <p:cNvSpPr>
            <a:spLocks noGrp="1"/>
          </p:cNvSpPr>
          <p:nvPr>
            <p:ph type="title"/>
          </p:nvPr>
        </p:nvSpPr>
        <p:spPr>
          <a:xfrm>
            <a:off x="311700" y="141322"/>
            <a:ext cx="8520600" cy="572700"/>
          </a:xfrm>
        </p:spPr>
        <p:txBody>
          <a:bodyPr/>
          <a:lstStyle/>
          <a:p>
            <a:r>
              <a:rPr lang="en-US" dirty="0"/>
              <a:t>2.2. </a:t>
            </a:r>
            <a:r>
              <a:rPr lang="en-GB" dirty="0"/>
              <a:t>Software Defined Network</a:t>
            </a:r>
            <a:endParaRPr lang="en-US" dirty="0"/>
          </a:p>
        </p:txBody>
      </p:sp>
      <p:sp>
        <p:nvSpPr>
          <p:cNvPr id="3" name="Text Placeholder 2">
            <a:extLst>
              <a:ext uri="{FF2B5EF4-FFF2-40B4-BE49-F238E27FC236}">
                <a16:creationId xmlns:a16="http://schemas.microsoft.com/office/drawing/2014/main" id="{C279B46C-C4A4-4EC2-A206-E716167FFA90}"/>
              </a:ext>
            </a:extLst>
          </p:cNvPr>
          <p:cNvSpPr>
            <a:spLocks noGrp="1"/>
          </p:cNvSpPr>
          <p:nvPr>
            <p:ph type="body" idx="1"/>
          </p:nvPr>
        </p:nvSpPr>
        <p:spPr>
          <a:xfrm>
            <a:off x="311700" y="714022"/>
            <a:ext cx="3999900" cy="4146903"/>
          </a:xfrm>
        </p:spPr>
        <p:txBody>
          <a:bodyPr/>
          <a:lstStyle/>
          <a:p>
            <a:r>
              <a:rPr lang="en-US" sz="1600" dirty="0"/>
              <a:t>SDN is the hardware independent next generation networking paradigm in which networking device from any vendors could be controlled through SDN.</a:t>
            </a:r>
          </a:p>
          <a:p>
            <a:r>
              <a:rPr lang="en-US" sz="1600" dirty="0"/>
              <a:t>The openness, feasibility and programmability of SDN reduces the complexity to implement energy efficiency approaches in both hardware and software [R7].</a:t>
            </a:r>
          </a:p>
          <a:p>
            <a:r>
              <a:rPr lang="en-US" sz="1600" dirty="0"/>
              <a:t>In my opinion, SDN is the best solution for building simulator and prototype of energy-aware routing in data center networks.</a:t>
            </a:r>
          </a:p>
          <a:p>
            <a:endParaRPr lang="en-US" dirty="0"/>
          </a:p>
          <a:p>
            <a:endParaRPr lang="en-US" dirty="0"/>
          </a:p>
        </p:txBody>
      </p:sp>
      <p:sp>
        <p:nvSpPr>
          <p:cNvPr id="7" name="Text Placeholder 6">
            <a:extLst>
              <a:ext uri="{FF2B5EF4-FFF2-40B4-BE49-F238E27FC236}">
                <a16:creationId xmlns:a16="http://schemas.microsoft.com/office/drawing/2014/main" id="{067D2080-54C8-4755-8663-C69C85435B63}"/>
              </a:ext>
            </a:extLst>
          </p:cNvPr>
          <p:cNvSpPr>
            <a:spLocks noGrp="1"/>
          </p:cNvSpPr>
          <p:nvPr>
            <p:ph type="body" idx="2"/>
          </p:nvPr>
        </p:nvSpPr>
        <p:spPr/>
        <p:txBody>
          <a:bodyPr/>
          <a:lstStyle/>
          <a:p>
            <a:endParaRPr lang="en-US"/>
          </a:p>
        </p:txBody>
      </p:sp>
      <p:sp>
        <p:nvSpPr>
          <p:cNvPr id="4" name="Slide Number Placeholder 3">
            <a:extLst>
              <a:ext uri="{FF2B5EF4-FFF2-40B4-BE49-F238E27FC236}">
                <a16:creationId xmlns:a16="http://schemas.microsoft.com/office/drawing/2014/main" id="{83BA61EF-5262-4F85-B86F-89512A1CCB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11</a:t>
            </a:fld>
            <a:endParaRPr lang="en-GB"/>
          </a:p>
        </p:txBody>
      </p:sp>
      <p:pic>
        <p:nvPicPr>
          <p:cNvPr id="6" name="Picture 5">
            <a:extLst>
              <a:ext uri="{FF2B5EF4-FFF2-40B4-BE49-F238E27FC236}">
                <a16:creationId xmlns:a16="http://schemas.microsoft.com/office/drawing/2014/main" id="{22527F09-159D-41AD-AE06-BD3B55B004C0}"/>
              </a:ext>
            </a:extLst>
          </p:cNvPr>
          <p:cNvPicPr>
            <a:picLocks noChangeAspect="1"/>
          </p:cNvPicPr>
          <p:nvPr/>
        </p:nvPicPr>
        <p:blipFill>
          <a:blip r:embed="rId3"/>
          <a:stretch>
            <a:fillRect/>
          </a:stretch>
        </p:blipFill>
        <p:spPr>
          <a:xfrm>
            <a:off x="4773377" y="860425"/>
            <a:ext cx="3771900" cy="4000500"/>
          </a:xfrm>
          <a:prstGeom prst="rect">
            <a:avLst/>
          </a:prstGeom>
        </p:spPr>
      </p:pic>
    </p:spTree>
    <p:extLst>
      <p:ext uri="{BB962C8B-B14F-4D97-AF65-F5344CB8AC3E}">
        <p14:creationId xmlns:p14="http://schemas.microsoft.com/office/powerpoint/2010/main" val="4272538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1A0A-1B43-4A11-9AC4-DFD7EEDB8312}"/>
              </a:ext>
            </a:extLst>
          </p:cNvPr>
          <p:cNvSpPr>
            <a:spLocks noGrp="1"/>
          </p:cNvSpPr>
          <p:nvPr>
            <p:ph type="title"/>
          </p:nvPr>
        </p:nvSpPr>
        <p:spPr/>
        <p:txBody>
          <a:bodyPr/>
          <a:lstStyle/>
          <a:p>
            <a:r>
              <a:rPr lang="en-US" dirty="0"/>
              <a:t>2.2. </a:t>
            </a:r>
            <a:r>
              <a:rPr lang="en-GB" dirty="0"/>
              <a:t>Software Defined Network</a:t>
            </a:r>
            <a:endParaRPr lang="en-US" dirty="0"/>
          </a:p>
        </p:txBody>
      </p:sp>
      <p:pic>
        <p:nvPicPr>
          <p:cNvPr id="6" name="Picture 5">
            <a:extLst>
              <a:ext uri="{FF2B5EF4-FFF2-40B4-BE49-F238E27FC236}">
                <a16:creationId xmlns:a16="http://schemas.microsoft.com/office/drawing/2014/main" id="{B1EA6DB6-2C14-411C-A755-D5C60613D2C8}"/>
              </a:ext>
            </a:extLst>
          </p:cNvPr>
          <p:cNvPicPr>
            <a:picLocks noChangeAspect="1"/>
          </p:cNvPicPr>
          <p:nvPr/>
        </p:nvPicPr>
        <p:blipFill>
          <a:blip r:embed="rId2"/>
          <a:stretch>
            <a:fillRect/>
          </a:stretch>
        </p:blipFill>
        <p:spPr>
          <a:xfrm>
            <a:off x="739725" y="1608137"/>
            <a:ext cx="3571875" cy="2505075"/>
          </a:xfrm>
          <a:prstGeom prst="rect">
            <a:avLst/>
          </a:prstGeom>
        </p:spPr>
      </p:pic>
      <p:sp>
        <p:nvSpPr>
          <p:cNvPr id="3" name="Text Placeholder 2">
            <a:extLst>
              <a:ext uri="{FF2B5EF4-FFF2-40B4-BE49-F238E27FC236}">
                <a16:creationId xmlns:a16="http://schemas.microsoft.com/office/drawing/2014/main" id="{B75C4A33-9E62-43C8-A4DF-1C109965B455}"/>
              </a:ext>
            </a:extLst>
          </p:cNvPr>
          <p:cNvSpPr>
            <a:spLocks noGrp="1"/>
          </p:cNvSpPr>
          <p:nvPr>
            <p:ph type="body" idx="1"/>
          </p:nvPr>
        </p:nvSpPr>
        <p:spPr/>
        <p:txBody>
          <a:bodyPr/>
          <a:lstStyle/>
          <a:p>
            <a:endParaRPr lang="en-US" dirty="0"/>
          </a:p>
        </p:txBody>
      </p:sp>
      <p:sp>
        <p:nvSpPr>
          <p:cNvPr id="4" name="Text Placeholder 3">
            <a:extLst>
              <a:ext uri="{FF2B5EF4-FFF2-40B4-BE49-F238E27FC236}">
                <a16:creationId xmlns:a16="http://schemas.microsoft.com/office/drawing/2014/main" id="{ED1D028E-EC16-484C-ACE7-725FF9A894F0}"/>
              </a:ext>
            </a:extLst>
          </p:cNvPr>
          <p:cNvSpPr>
            <a:spLocks noGrp="1"/>
          </p:cNvSpPr>
          <p:nvPr>
            <p:ph type="body" idx="2"/>
          </p:nvPr>
        </p:nvSpPr>
        <p:spPr/>
        <p:txBody>
          <a:bodyPr/>
          <a:lstStyle/>
          <a:p>
            <a:r>
              <a:rPr lang="en-US" dirty="0" err="1"/>
              <a:t>ElasticTree</a:t>
            </a:r>
            <a:r>
              <a:rPr lang="en-US" dirty="0"/>
              <a:t> uses NOX, OpenFlow for its controller and Southbound API respectively. [R3]</a:t>
            </a:r>
          </a:p>
        </p:txBody>
      </p:sp>
      <p:sp>
        <p:nvSpPr>
          <p:cNvPr id="5" name="Slide Number Placeholder 4">
            <a:extLst>
              <a:ext uri="{FF2B5EF4-FFF2-40B4-BE49-F238E27FC236}">
                <a16:creationId xmlns:a16="http://schemas.microsoft.com/office/drawing/2014/main" id="{425C3BE5-7C49-4915-929D-38FEC6F1E1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12</a:t>
            </a:fld>
            <a:endParaRPr lang="en-GB"/>
          </a:p>
        </p:txBody>
      </p:sp>
      <p:pic>
        <p:nvPicPr>
          <p:cNvPr id="7" name="Picture 6">
            <a:extLst>
              <a:ext uri="{FF2B5EF4-FFF2-40B4-BE49-F238E27FC236}">
                <a16:creationId xmlns:a16="http://schemas.microsoft.com/office/drawing/2014/main" id="{5B951C26-6406-4E34-BCCC-0EA7FD7E1BCD}"/>
              </a:ext>
            </a:extLst>
          </p:cNvPr>
          <p:cNvPicPr>
            <a:picLocks noChangeAspect="1"/>
          </p:cNvPicPr>
          <p:nvPr/>
        </p:nvPicPr>
        <p:blipFill>
          <a:blip r:embed="rId3"/>
          <a:stretch>
            <a:fillRect/>
          </a:stretch>
        </p:blipFill>
        <p:spPr>
          <a:xfrm>
            <a:off x="652412" y="4183969"/>
            <a:ext cx="3484198" cy="314149"/>
          </a:xfrm>
          <a:prstGeom prst="rect">
            <a:avLst/>
          </a:prstGeom>
        </p:spPr>
      </p:pic>
      <p:pic>
        <p:nvPicPr>
          <p:cNvPr id="8" name="Picture 7">
            <a:extLst>
              <a:ext uri="{FF2B5EF4-FFF2-40B4-BE49-F238E27FC236}">
                <a16:creationId xmlns:a16="http://schemas.microsoft.com/office/drawing/2014/main" id="{5F8EB297-BE86-4871-BC21-5C631B763845}"/>
              </a:ext>
            </a:extLst>
          </p:cNvPr>
          <p:cNvPicPr>
            <a:picLocks noChangeAspect="1"/>
          </p:cNvPicPr>
          <p:nvPr/>
        </p:nvPicPr>
        <p:blipFill>
          <a:blip r:embed="rId4"/>
          <a:stretch>
            <a:fillRect/>
          </a:stretch>
        </p:blipFill>
        <p:spPr>
          <a:xfrm>
            <a:off x="5117570" y="3212243"/>
            <a:ext cx="2905125" cy="1285875"/>
          </a:xfrm>
          <a:prstGeom prst="rect">
            <a:avLst/>
          </a:prstGeom>
        </p:spPr>
      </p:pic>
    </p:spTree>
    <p:extLst>
      <p:ext uri="{BB962C8B-B14F-4D97-AF65-F5344CB8AC3E}">
        <p14:creationId xmlns:p14="http://schemas.microsoft.com/office/powerpoint/2010/main" val="1438964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4AB99-9921-46A3-9EA2-43F7A75B75A4}"/>
              </a:ext>
            </a:extLst>
          </p:cNvPr>
          <p:cNvSpPr>
            <a:spLocks noGrp="1"/>
          </p:cNvSpPr>
          <p:nvPr>
            <p:ph type="title"/>
          </p:nvPr>
        </p:nvSpPr>
        <p:spPr/>
        <p:txBody>
          <a:bodyPr/>
          <a:lstStyle/>
          <a:p>
            <a:r>
              <a:rPr lang="en-US" dirty="0"/>
              <a:t>2.2. </a:t>
            </a:r>
            <a:r>
              <a:rPr lang="en-GB" dirty="0"/>
              <a:t>Machine Learning</a:t>
            </a:r>
            <a:endParaRPr lang="en-US" dirty="0"/>
          </a:p>
        </p:txBody>
      </p:sp>
      <p:sp>
        <p:nvSpPr>
          <p:cNvPr id="3" name="Text Placeholder 2">
            <a:extLst>
              <a:ext uri="{FF2B5EF4-FFF2-40B4-BE49-F238E27FC236}">
                <a16:creationId xmlns:a16="http://schemas.microsoft.com/office/drawing/2014/main" id="{012DD81A-11F1-4EB6-957B-5BDFDE8182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825FE5-3773-43F6-971F-AFCB2F7E03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13</a:t>
            </a:fld>
            <a:endParaRPr lang="en-GB"/>
          </a:p>
        </p:txBody>
      </p:sp>
    </p:spTree>
    <p:extLst>
      <p:ext uri="{BB962C8B-B14F-4D97-AF65-F5344CB8AC3E}">
        <p14:creationId xmlns:p14="http://schemas.microsoft.com/office/powerpoint/2010/main" val="3221193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982C7-70CB-4F1B-9B91-AE874B009AF5}"/>
              </a:ext>
            </a:extLst>
          </p:cNvPr>
          <p:cNvSpPr>
            <a:spLocks noGrp="1"/>
          </p:cNvSpPr>
          <p:nvPr>
            <p:ph type="title"/>
          </p:nvPr>
        </p:nvSpPr>
        <p:spPr/>
        <p:txBody>
          <a:bodyPr/>
          <a:lstStyle/>
          <a:p>
            <a:r>
              <a:rPr lang="en-US" dirty="0"/>
              <a:t>Problems</a:t>
            </a:r>
          </a:p>
        </p:txBody>
      </p:sp>
      <p:sp>
        <p:nvSpPr>
          <p:cNvPr id="3" name="Text Placeholder 2">
            <a:extLst>
              <a:ext uri="{FF2B5EF4-FFF2-40B4-BE49-F238E27FC236}">
                <a16:creationId xmlns:a16="http://schemas.microsoft.com/office/drawing/2014/main" id="{9B7018A0-2953-43F7-9ED9-ACB182CB80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75AE4-1D20-4640-AD04-7D67014578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14</a:t>
            </a:fld>
            <a:endParaRPr lang="en-GB"/>
          </a:p>
        </p:txBody>
      </p:sp>
    </p:spTree>
    <p:extLst>
      <p:ext uri="{BB962C8B-B14F-4D97-AF65-F5344CB8AC3E}">
        <p14:creationId xmlns:p14="http://schemas.microsoft.com/office/powerpoint/2010/main" val="2946051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Conclusion</a:t>
            </a:r>
            <a:endParaRPr/>
          </a:p>
        </p:txBody>
      </p:sp>
      <p:sp>
        <p:nvSpPr>
          <p:cNvPr id="106" name="Google Shape;10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Random shortcut </a:t>
            </a:r>
            <a:r>
              <a:rPr lang="en-GB" strike="sngStrike" dirty="0"/>
              <a:t>interconnection </a:t>
            </a:r>
            <a:r>
              <a:rPr lang="en-GB" dirty="0"/>
              <a:t>network has better scalability, smaller diameter and lower latency when compared to regular network topologies. But it still lacks a saving energy solution as this topology is applied to data </a:t>
            </a:r>
            <a:r>
              <a:rPr lang="en-GB" dirty="0" err="1"/>
              <a:t>center</a:t>
            </a:r>
            <a:r>
              <a:rPr lang="en-GB" dirty="0"/>
              <a:t> networks. </a:t>
            </a:r>
            <a:endParaRPr dirty="0"/>
          </a:p>
          <a:p>
            <a:pPr marL="0" lvl="0" indent="0" algn="l" rtl="0">
              <a:spcBef>
                <a:spcPts val="1600"/>
              </a:spcBef>
              <a:spcAft>
                <a:spcPts val="0"/>
              </a:spcAft>
              <a:buNone/>
            </a:pPr>
            <a:r>
              <a:rPr lang="en-GB" dirty="0"/>
              <a:t>I am going to use traffic routing to maximize idle ports </a:t>
            </a:r>
            <a:r>
              <a:rPr lang="en-GB" strike="sngStrike" dirty="0"/>
              <a:t>switches </a:t>
            </a:r>
            <a:r>
              <a:rPr lang="en-GB" dirty="0"/>
              <a:t>and links and then power them off. I expect a reinforcement learning to give an acceptable routing for this NP-complete problem. Flow </a:t>
            </a:r>
            <a:r>
              <a:rPr lang="en-GB"/>
              <a:t>table size</a:t>
            </a:r>
            <a:endParaRPr dirty="0"/>
          </a:p>
          <a:p>
            <a:pPr marL="0" lvl="0" indent="0" algn="l" rtl="0">
              <a:spcBef>
                <a:spcPts val="1600"/>
              </a:spcBef>
              <a:spcAft>
                <a:spcPts val="0"/>
              </a:spcAft>
              <a:buNone/>
            </a:pPr>
            <a:r>
              <a:rPr lang="en-GB" dirty="0"/>
              <a:t>In future, a deep reinforcement learning could work better than other classic techniques for </a:t>
            </a:r>
            <a:r>
              <a:rPr lang="en-GB" strike="sngStrike" dirty="0"/>
              <a:t>energy consumption </a:t>
            </a:r>
            <a:r>
              <a:rPr lang="en-GB" dirty="0"/>
              <a:t>prediction as scaling nodes of DCN.</a:t>
            </a:r>
            <a:endParaRPr dirty="0"/>
          </a:p>
          <a:p>
            <a:pPr marL="0" lvl="0" indent="0" algn="l" rtl="0">
              <a:spcBef>
                <a:spcPts val="1600"/>
              </a:spcBef>
              <a:spcAft>
                <a:spcPts val="1600"/>
              </a:spcAft>
              <a:buNone/>
            </a:pPr>
            <a:endParaRPr dirty="0"/>
          </a:p>
        </p:txBody>
      </p:sp>
      <p:sp>
        <p:nvSpPr>
          <p:cNvPr id="107" name="Google Shape;107;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References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3" name="Google Shape;113;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dirty="0">
                <a:solidFill>
                  <a:schemeClr val="tx1"/>
                </a:solidFill>
              </a:rPr>
              <a:t>[R1] A. Greenberg, et al. The Cost of a Cloud: Research Problems in Data </a:t>
            </a:r>
            <a:r>
              <a:rPr lang="en-GB" sz="1400" dirty="0" err="1">
                <a:solidFill>
                  <a:schemeClr val="tx1"/>
                </a:solidFill>
              </a:rPr>
              <a:t>Center</a:t>
            </a:r>
            <a:r>
              <a:rPr lang="en-GB" sz="1400" dirty="0">
                <a:solidFill>
                  <a:schemeClr val="tx1"/>
                </a:solidFill>
              </a:rPr>
              <a:t> Networks. In ACM SIGCOMM CCR, January 2009.</a:t>
            </a:r>
            <a:endParaRPr sz="1400" dirty="0">
              <a:solidFill>
                <a:schemeClr val="tx1"/>
              </a:solidFill>
            </a:endParaRPr>
          </a:p>
          <a:p>
            <a:pPr marL="0" lvl="0" indent="0" algn="l" rtl="0">
              <a:spcBef>
                <a:spcPts val="1600"/>
              </a:spcBef>
              <a:spcAft>
                <a:spcPts val="0"/>
              </a:spcAft>
              <a:buNone/>
            </a:pPr>
            <a:r>
              <a:rPr lang="en-GB" sz="1400" dirty="0">
                <a:solidFill>
                  <a:schemeClr val="tx1"/>
                </a:solidFill>
              </a:rPr>
              <a:t>[R2] </a:t>
            </a:r>
            <a:r>
              <a:rPr lang="en-GB" sz="1400" dirty="0" err="1">
                <a:solidFill>
                  <a:schemeClr val="tx1"/>
                </a:solidFill>
              </a:rPr>
              <a:t>Andújar</a:t>
            </a:r>
            <a:r>
              <a:rPr lang="en-GB" sz="1400" dirty="0">
                <a:solidFill>
                  <a:schemeClr val="tx1"/>
                </a:solidFill>
              </a:rPr>
              <a:t>, F. J et al. Energy efficient torus networks with on/off links. Journal of Parallel and Distributed Computing, March 2019.</a:t>
            </a:r>
            <a:endParaRPr sz="1400" dirty="0">
              <a:solidFill>
                <a:schemeClr val="tx1"/>
              </a:solidFill>
            </a:endParaRPr>
          </a:p>
          <a:p>
            <a:pPr marL="0" lvl="0" indent="0" algn="l" rtl="0">
              <a:spcBef>
                <a:spcPts val="1600"/>
              </a:spcBef>
              <a:spcAft>
                <a:spcPts val="0"/>
              </a:spcAft>
              <a:buNone/>
            </a:pPr>
            <a:r>
              <a:rPr lang="en-GB" sz="1400" dirty="0">
                <a:solidFill>
                  <a:schemeClr val="tx1"/>
                </a:solidFill>
              </a:rPr>
              <a:t>[R3] Heller, Brandon, et al. </a:t>
            </a:r>
            <a:r>
              <a:rPr lang="en-GB" sz="1400" dirty="0" err="1">
                <a:solidFill>
                  <a:schemeClr val="tx1"/>
                </a:solidFill>
              </a:rPr>
              <a:t>Elastictree</a:t>
            </a:r>
            <a:r>
              <a:rPr lang="en-GB" sz="1400" dirty="0">
                <a:solidFill>
                  <a:schemeClr val="tx1"/>
                </a:solidFill>
              </a:rPr>
              <a:t>: Saving energy in data </a:t>
            </a:r>
            <a:r>
              <a:rPr lang="en-GB" sz="1400" dirty="0" err="1">
                <a:solidFill>
                  <a:schemeClr val="tx1"/>
                </a:solidFill>
              </a:rPr>
              <a:t>center</a:t>
            </a:r>
            <a:r>
              <a:rPr lang="en-GB" sz="1400" dirty="0">
                <a:solidFill>
                  <a:schemeClr val="tx1"/>
                </a:solidFill>
              </a:rPr>
              <a:t> networks. </a:t>
            </a:r>
            <a:r>
              <a:rPr lang="en-GB" sz="1400" i="1" dirty="0" err="1">
                <a:solidFill>
                  <a:schemeClr val="tx1"/>
                </a:solidFill>
              </a:rPr>
              <a:t>Nsdi</a:t>
            </a:r>
            <a:r>
              <a:rPr lang="en-GB" sz="1400" dirty="0">
                <a:solidFill>
                  <a:schemeClr val="tx1"/>
                </a:solidFill>
              </a:rPr>
              <a:t>. Vol. 10. April, 2010.</a:t>
            </a:r>
            <a:endParaRPr sz="1400" dirty="0">
              <a:solidFill>
                <a:schemeClr val="tx1"/>
              </a:solidFill>
            </a:endParaRPr>
          </a:p>
          <a:p>
            <a:pPr marL="0" lvl="0" indent="0" algn="l" rtl="0">
              <a:spcBef>
                <a:spcPts val="1600"/>
              </a:spcBef>
              <a:spcAft>
                <a:spcPts val="0"/>
              </a:spcAft>
              <a:buNone/>
            </a:pPr>
            <a:r>
              <a:rPr lang="en-GB" sz="1400" dirty="0">
                <a:solidFill>
                  <a:schemeClr val="tx1"/>
                </a:solidFill>
              </a:rPr>
              <a:t>[R4] </a:t>
            </a:r>
            <a:r>
              <a:rPr lang="en-GB" sz="1400" dirty="0" err="1">
                <a:solidFill>
                  <a:schemeClr val="tx1"/>
                </a:solidFill>
              </a:rPr>
              <a:t>Andújar</a:t>
            </a:r>
            <a:r>
              <a:rPr lang="en-GB" sz="1400" dirty="0">
                <a:solidFill>
                  <a:schemeClr val="tx1"/>
                </a:solidFill>
              </a:rPr>
              <a:t>, </a:t>
            </a:r>
            <a:r>
              <a:rPr lang="en-GB" sz="1400" dirty="0" err="1">
                <a:solidFill>
                  <a:schemeClr val="tx1"/>
                </a:solidFill>
              </a:rPr>
              <a:t>Franciso</a:t>
            </a:r>
            <a:r>
              <a:rPr lang="en-GB" sz="1400" dirty="0">
                <a:solidFill>
                  <a:schemeClr val="tx1"/>
                </a:solidFill>
              </a:rPr>
              <a:t> J., et al. "POWAR: Power-Aware Routing in HPC Networks with On/Off Links." ACM Transactions on Architecture and Code Optimization (TACO) 15.4 (2019): 61.</a:t>
            </a:r>
            <a:endParaRPr sz="1400" dirty="0">
              <a:solidFill>
                <a:schemeClr val="tx1"/>
              </a:solidFill>
            </a:endParaRPr>
          </a:p>
          <a:p>
            <a:pPr marL="0" lvl="0" indent="0" algn="l" rtl="0">
              <a:spcBef>
                <a:spcPts val="1600"/>
              </a:spcBef>
              <a:spcAft>
                <a:spcPts val="0"/>
              </a:spcAft>
              <a:buClr>
                <a:schemeClr val="dk1"/>
              </a:buClr>
              <a:buSzPts val="1100"/>
              <a:buFont typeface="Arial"/>
              <a:buNone/>
            </a:pPr>
            <a:r>
              <a:rPr lang="en-GB" sz="1400" dirty="0">
                <a:solidFill>
                  <a:schemeClr val="tx1"/>
                </a:solidFill>
                <a:highlight>
                  <a:srgbClr val="FFFFFF"/>
                </a:highlight>
              </a:rPr>
              <a:t>[R5] </a:t>
            </a:r>
            <a:r>
              <a:rPr lang="en-GB" sz="1400" dirty="0" err="1">
                <a:solidFill>
                  <a:schemeClr val="tx1"/>
                </a:solidFill>
                <a:highlight>
                  <a:srgbClr val="FFFFFF"/>
                </a:highlight>
              </a:rPr>
              <a:t>Koibuchi</a:t>
            </a:r>
            <a:r>
              <a:rPr lang="en-GB" sz="1400" dirty="0">
                <a:solidFill>
                  <a:schemeClr val="tx1"/>
                </a:solidFill>
                <a:highlight>
                  <a:srgbClr val="FFFFFF"/>
                </a:highlight>
              </a:rPr>
              <a:t>, </a:t>
            </a:r>
            <a:r>
              <a:rPr lang="en-GB" sz="1400" dirty="0" err="1">
                <a:solidFill>
                  <a:schemeClr val="tx1"/>
                </a:solidFill>
                <a:highlight>
                  <a:srgbClr val="FFFFFF"/>
                </a:highlight>
              </a:rPr>
              <a:t>Michihiro</a:t>
            </a:r>
            <a:r>
              <a:rPr lang="en-GB" sz="1400" dirty="0">
                <a:solidFill>
                  <a:schemeClr val="tx1"/>
                </a:solidFill>
                <a:highlight>
                  <a:srgbClr val="FFFFFF"/>
                </a:highlight>
              </a:rPr>
              <a:t>, et al. "A case for random shortcut topologies for HPC interconnects." 2012 39th Annual International Symposium on Computer Architecture (ISCA). IEEE, June, 2012.</a:t>
            </a:r>
            <a:endParaRPr sz="1400" dirty="0">
              <a:solidFill>
                <a:schemeClr val="tx1"/>
              </a:solidFill>
            </a:endParaRPr>
          </a:p>
          <a:p>
            <a:pPr marL="0" lvl="0" indent="0" algn="l" rtl="0">
              <a:spcBef>
                <a:spcPts val="1600"/>
              </a:spcBef>
              <a:spcAft>
                <a:spcPts val="0"/>
              </a:spcAft>
              <a:buNone/>
            </a:pPr>
            <a:r>
              <a:rPr lang="en-GB" sz="1400" dirty="0">
                <a:solidFill>
                  <a:schemeClr val="tx1"/>
                </a:solidFill>
              </a:rPr>
              <a:t>[R6] </a:t>
            </a:r>
            <a:r>
              <a:rPr lang="en-GB" sz="1400" dirty="0" err="1">
                <a:solidFill>
                  <a:schemeClr val="tx1"/>
                </a:solidFill>
                <a:highlight>
                  <a:srgbClr val="FFFFFF"/>
                </a:highlight>
              </a:rPr>
              <a:t>Reviriego</a:t>
            </a:r>
            <a:r>
              <a:rPr lang="en-GB" sz="1400" dirty="0">
                <a:solidFill>
                  <a:schemeClr val="tx1"/>
                </a:solidFill>
                <a:highlight>
                  <a:srgbClr val="FFFFFF"/>
                </a:highlight>
              </a:rPr>
              <a:t>, Pedro, et al. "Performance evaluation of energy efficient ethernet." IEEE Communications Letters, September, 2009: 697-699.</a:t>
            </a:r>
            <a:endParaRPr sz="1400" dirty="0">
              <a:solidFill>
                <a:schemeClr val="tx1"/>
              </a:solidFill>
              <a:highlight>
                <a:srgbClr val="FFFFFF"/>
              </a:highlight>
            </a:endParaRPr>
          </a:p>
          <a:p>
            <a:pPr marL="0" lvl="0" indent="0" algn="l" rtl="0">
              <a:spcBef>
                <a:spcPts val="1600"/>
              </a:spcBef>
              <a:spcAft>
                <a:spcPts val="0"/>
              </a:spcAft>
              <a:buNone/>
            </a:pPr>
            <a:endParaRPr sz="1400" dirty="0">
              <a:solidFill>
                <a:srgbClr val="222222"/>
              </a:solidFill>
              <a:highlight>
                <a:srgbClr val="FFFFFF"/>
              </a:highlight>
            </a:endParaRPr>
          </a:p>
          <a:p>
            <a:pPr marL="0" lvl="0" indent="0" algn="l" rtl="0">
              <a:spcBef>
                <a:spcPts val="1600"/>
              </a:spcBef>
              <a:spcAft>
                <a:spcPts val="0"/>
              </a:spcAft>
              <a:buNone/>
            </a:pPr>
            <a:endParaRPr dirty="0">
              <a:solidFill>
                <a:schemeClr val="dk1"/>
              </a:solidFill>
            </a:endParaRPr>
          </a:p>
          <a:p>
            <a:pPr marL="0" lvl="0" indent="0" algn="l" rtl="0">
              <a:spcBef>
                <a:spcPts val="1600"/>
              </a:spcBef>
              <a:spcAft>
                <a:spcPts val="1600"/>
              </a:spcAft>
              <a:buNone/>
            </a:pPr>
            <a:endParaRPr dirty="0"/>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References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3" name="Google Shape;113;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buNone/>
            </a:pPr>
            <a:r>
              <a:rPr lang="en-GB" sz="1400" dirty="0">
                <a:solidFill>
                  <a:schemeClr val="tx1"/>
                </a:solidFill>
              </a:rPr>
              <a:t>[R7] </a:t>
            </a:r>
            <a:r>
              <a:rPr lang="en-US" sz="1400" dirty="0">
                <a:solidFill>
                  <a:schemeClr val="tx1"/>
                </a:solidFill>
              </a:rPr>
              <a:t>Rawat DB, Reddy SR. Software defined networking architecture, security and energy efficiency: A survey. IEEE Communications Surveys &amp; Tutorials. January, 2017</a:t>
            </a:r>
          </a:p>
          <a:p>
            <a:pPr marL="0" lvl="0" indent="0">
              <a:buNone/>
            </a:pPr>
            <a:endParaRPr lang="en-US" sz="1400" dirty="0">
              <a:solidFill>
                <a:schemeClr val="tx1"/>
              </a:solidFill>
            </a:endParaRPr>
          </a:p>
          <a:p>
            <a:pPr marL="0" lvl="0" indent="0">
              <a:buNone/>
            </a:pPr>
            <a:r>
              <a:rPr lang="en-GB" sz="1400" dirty="0">
                <a:solidFill>
                  <a:schemeClr val="tx1"/>
                </a:solidFill>
              </a:rPr>
              <a:t>[R2] </a:t>
            </a:r>
            <a:r>
              <a:rPr lang="en-GB" sz="1400" dirty="0" err="1">
                <a:solidFill>
                  <a:schemeClr val="tx1"/>
                </a:solidFill>
              </a:rPr>
              <a:t>Andújar</a:t>
            </a:r>
            <a:r>
              <a:rPr lang="en-GB" sz="1400" dirty="0">
                <a:solidFill>
                  <a:schemeClr val="tx1"/>
                </a:solidFill>
              </a:rPr>
              <a:t>, F. J et al. Energy efficient torus networks with on/off links. Journal of Parallel and Distributed Computing, March 2019.</a:t>
            </a:r>
            <a:endParaRPr sz="1400" dirty="0">
              <a:solidFill>
                <a:schemeClr val="tx1"/>
              </a:solidFill>
            </a:endParaRPr>
          </a:p>
          <a:p>
            <a:pPr marL="0" lvl="0" indent="0" algn="l" rtl="0">
              <a:spcBef>
                <a:spcPts val="1600"/>
              </a:spcBef>
              <a:spcAft>
                <a:spcPts val="0"/>
              </a:spcAft>
              <a:buNone/>
            </a:pPr>
            <a:r>
              <a:rPr lang="en-GB" sz="1400" dirty="0">
                <a:solidFill>
                  <a:schemeClr val="tx1"/>
                </a:solidFill>
              </a:rPr>
              <a:t>[R3] Heller, Brandon, et al. </a:t>
            </a:r>
            <a:r>
              <a:rPr lang="en-GB" sz="1400" dirty="0" err="1">
                <a:solidFill>
                  <a:schemeClr val="tx1"/>
                </a:solidFill>
              </a:rPr>
              <a:t>Elastictree</a:t>
            </a:r>
            <a:r>
              <a:rPr lang="en-GB" sz="1400" dirty="0">
                <a:solidFill>
                  <a:schemeClr val="tx1"/>
                </a:solidFill>
              </a:rPr>
              <a:t>: Saving energy in data </a:t>
            </a:r>
            <a:r>
              <a:rPr lang="en-GB" sz="1400" dirty="0" err="1">
                <a:solidFill>
                  <a:schemeClr val="tx1"/>
                </a:solidFill>
              </a:rPr>
              <a:t>center</a:t>
            </a:r>
            <a:r>
              <a:rPr lang="en-GB" sz="1400" dirty="0">
                <a:solidFill>
                  <a:schemeClr val="tx1"/>
                </a:solidFill>
              </a:rPr>
              <a:t> networks. </a:t>
            </a:r>
            <a:r>
              <a:rPr lang="en-GB" sz="1400" i="1" dirty="0" err="1">
                <a:solidFill>
                  <a:schemeClr val="tx1"/>
                </a:solidFill>
              </a:rPr>
              <a:t>Nsdi</a:t>
            </a:r>
            <a:r>
              <a:rPr lang="en-GB" sz="1400" dirty="0">
                <a:solidFill>
                  <a:schemeClr val="tx1"/>
                </a:solidFill>
              </a:rPr>
              <a:t>. Vol. 10. April, 2010.</a:t>
            </a:r>
            <a:endParaRPr sz="1400" dirty="0">
              <a:solidFill>
                <a:schemeClr val="tx1"/>
              </a:solidFill>
            </a:endParaRPr>
          </a:p>
          <a:p>
            <a:pPr marL="0" lvl="0" indent="0" algn="l" rtl="0">
              <a:spcBef>
                <a:spcPts val="1600"/>
              </a:spcBef>
              <a:spcAft>
                <a:spcPts val="0"/>
              </a:spcAft>
              <a:buNone/>
            </a:pPr>
            <a:r>
              <a:rPr lang="en-GB" sz="1400" dirty="0">
                <a:solidFill>
                  <a:schemeClr val="tx1"/>
                </a:solidFill>
              </a:rPr>
              <a:t>[R4] </a:t>
            </a:r>
            <a:r>
              <a:rPr lang="en-GB" sz="1400" dirty="0" err="1">
                <a:solidFill>
                  <a:schemeClr val="tx1"/>
                </a:solidFill>
              </a:rPr>
              <a:t>Andújar</a:t>
            </a:r>
            <a:r>
              <a:rPr lang="en-GB" sz="1400" dirty="0">
                <a:solidFill>
                  <a:schemeClr val="tx1"/>
                </a:solidFill>
              </a:rPr>
              <a:t>, </a:t>
            </a:r>
            <a:r>
              <a:rPr lang="en-GB" sz="1400" dirty="0" err="1">
                <a:solidFill>
                  <a:schemeClr val="tx1"/>
                </a:solidFill>
              </a:rPr>
              <a:t>Franciso</a:t>
            </a:r>
            <a:r>
              <a:rPr lang="en-GB" sz="1400" dirty="0">
                <a:solidFill>
                  <a:schemeClr val="tx1"/>
                </a:solidFill>
              </a:rPr>
              <a:t> J., et al. "POWAR: Power-Aware Routing in HPC Networks with On/Off Links." ACM Transactions on Architecture and Code Optimization (TACO) 15.4 (2019): 61.</a:t>
            </a:r>
            <a:endParaRPr sz="1400" dirty="0">
              <a:solidFill>
                <a:schemeClr val="tx1"/>
              </a:solidFill>
            </a:endParaRPr>
          </a:p>
          <a:p>
            <a:pPr marL="0" lvl="0" indent="0" algn="l" rtl="0">
              <a:spcBef>
                <a:spcPts val="1600"/>
              </a:spcBef>
              <a:spcAft>
                <a:spcPts val="0"/>
              </a:spcAft>
              <a:buClr>
                <a:schemeClr val="dk1"/>
              </a:buClr>
              <a:buSzPts val="1100"/>
              <a:buFont typeface="Arial"/>
              <a:buNone/>
            </a:pPr>
            <a:r>
              <a:rPr lang="en-GB" sz="1400" dirty="0">
                <a:solidFill>
                  <a:schemeClr val="tx1"/>
                </a:solidFill>
                <a:highlight>
                  <a:srgbClr val="FFFFFF"/>
                </a:highlight>
              </a:rPr>
              <a:t>[R5] </a:t>
            </a:r>
            <a:r>
              <a:rPr lang="en-GB" sz="1400" dirty="0" err="1">
                <a:solidFill>
                  <a:schemeClr val="tx1"/>
                </a:solidFill>
                <a:highlight>
                  <a:srgbClr val="FFFFFF"/>
                </a:highlight>
              </a:rPr>
              <a:t>Koibuchi</a:t>
            </a:r>
            <a:r>
              <a:rPr lang="en-GB" sz="1400" dirty="0">
                <a:solidFill>
                  <a:schemeClr val="tx1"/>
                </a:solidFill>
                <a:highlight>
                  <a:srgbClr val="FFFFFF"/>
                </a:highlight>
              </a:rPr>
              <a:t>, </a:t>
            </a:r>
            <a:r>
              <a:rPr lang="en-GB" sz="1400" dirty="0" err="1">
                <a:solidFill>
                  <a:schemeClr val="tx1"/>
                </a:solidFill>
                <a:highlight>
                  <a:srgbClr val="FFFFFF"/>
                </a:highlight>
              </a:rPr>
              <a:t>Michihiro</a:t>
            </a:r>
            <a:r>
              <a:rPr lang="en-GB" sz="1400" dirty="0">
                <a:solidFill>
                  <a:schemeClr val="tx1"/>
                </a:solidFill>
                <a:highlight>
                  <a:srgbClr val="FFFFFF"/>
                </a:highlight>
              </a:rPr>
              <a:t>, et al. "A case for random shortcut topologies for HPC interconnects." 2012 39th Annual International Symposium on Computer Architecture (ISCA). IEEE, June, 2012.</a:t>
            </a:r>
            <a:endParaRPr sz="1400" dirty="0">
              <a:solidFill>
                <a:schemeClr val="tx1"/>
              </a:solidFill>
            </a:endParaRPr>
          </a:p>
          <a:p>
            <a:pPr marL="0" lvl="0" indent="0" algn="l" rtl="0">
              <a:spcBef>
                <a:spcPts val="1600"/>
              </a:spcBef>
              <a:spcAft>
                <a:spcPts val="0"/>
              </a:spcAft>
              <a:buNone/>
            </a:pPr>
            <a:r>
              <a:rPr lang="en-GB" sz="1400" dirty="0">
                <a:solidFill>
                  <a:schemeClr val="tx1"/>
                </a:solidFill>
              </a:rPr>
              <a:t>[R6] </a:t>
            </a:r>
            <a:r>
              <a:rPr lang="en-GB" sz="1400" dirty="0" err="1">
                <a:solidFill>
                  <a:schemeClr val="tx1"/>
                </a:solidFill>
                <a:highlight>
                  <a:srgbClr val="FFFFFF"/>
                </a:highlight>
              </a:rPr>
              <a:t>Reviriego</a:t>
            </a:r>
            <a:r>
              <a:rPr lang="en-GB" sz="1400" dirty="0">
                <a:solidFill>
                  <a:schemeClr val="tx1"/>
                </a:solidFill>
                <a:highlight>
                  <a:srgbClr val="FFFFFF"/>
                </a:highlight>
              </a:rPr>
              <a:t>, Pedro, et al. "Performance evaluation of energy efficient ethernet." IEEE Communications Letters, September, 2009: 697-699.</a:t>
            </a:r>
            <a:endParaRPr sz="1400" dirty="0">
              <a:solidFill>
                <a:schemeClr val="tx1"/>
              </a:solidFill>
              <a:highlight>
                <a:srgbClr val="FFFFFF"/>
              </a:highlight>
            </a:endParaRPr>
          </a:p>
          <a:p>
            <a:pPr marL="0" lvl="0" indent="0" algn="l" rtl="0">
              <a:spcBef>
                <a:spcPts val="1600"/>
              </a:spcBef>
              <a:spcAft>
                <a:spcPts val="0"/>
              </a:spcAft>
              <a:buNone/>
            </a:pPr>
            <a:endParaRPr sz="1400" dirty="0">
              <a:solidFill>
                <a:srgbClr val="222222"/>
              </a:solidFill>
              <a:highlight>
                <a:srgbClr val="FFFFFF"/>
              </a:highlight>
            </a:endParaRPr>
          </a:p>
          <a:p>
            <a:pPr marL="0" lvl="0" indent="0" algn="l" rtl="0">
              <a:spcBef>
                <a:spcPts val="1600"/>
              </a:spcBef>
              <a:spcAft>
                <a:spcPts val="0"/>
              </a:spcAft>
              <a:buNone/>
            </a:pPr>
            <a:endParaRPr dirty="0">
              <a:solidFill>
                <a:schemeClr val="dk1"/>
              </a:solidFill>
            </a:endParaRPr>
          </a:p>
          <a:p>
            <a:pPr marL="0" lvl="0" indent="0" algn="l" rtl="0">
              <a:spcBef>
                <a:spcPts val="1600"/>
              </a:spcBef>
              <a:spcAft>
                <a:spcPts val="1600"/>
              </a:spcAft>
              <a:buNone/>
            </a:pPr>
            <a:endParaRPr dirty="0"/>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17</a:t>
            </a:fld>
            <a:endParaRPr/>
          </a:p>
        </p:txBody>
      </p:sp>
    </p:spTree>
    <p:extLst>
      <p:ext uri="{BB962C8B-B14F-4D97-AF65-F5344CB8AC3E}">
        <p14:creationId xmlns:p14="http://schemas.microsoft.com/office/powerpoint/2010/main" val="283228587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466</TotalTime>
  <Words>1113</Words>
  <Application>Microsoft Office PowerPoint</Application>
  <PresentationFormat>On-screen Show (16:9)</PresentationFormat>
  <Paragraphs>112</Paragraphs>
  <Slides>17</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Simple Light</vt:lpstr>
      <vt:lpstr>Adaptive Routing for Saving Energy of Random shortcut Networks using Reinforcement Learning</vt:lpstr>
      <vt:lpstr> Saving energy in random shortcut interconnection network</vt:lpstr>
      <vt:lpstr>Abstract</vt:lpstr>
      <vt:lpstr>Introduction</vt:lpstr>
      <vt:lpstr>Introduction</vt:lpstr>
      <vt:lpstr>Content</vt:lpstr>
      <vt:lpstr>2. Background</vt:lpstr>
      <vt:lpstr>2. Background</vt:lpstr>
      <vt:lpstr>2.1 NP-complete and formal method </vt:lpstr>
      <vt:lpstr>2.1 NP-complete and formal method </vt:lpstr>
      <vt:lpstr>2.2. Software Defined Network</vt:lpstr>
      <vt:lpstr>2.2. Software Defined Network</vt:lpstr>
      <vt:lpstr>2.2. Machine Learning</vt:lpstr>
      <vt:lpstr>Problems</vt:lpstr>
      <vt:lpstr>Conclusion</vt:lpstr>
      <vt:lpstr>References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Saving energy in random shortcut interconnection network</dc:title>
  <cp:lastModifiedBy>Tien Thanh</cp:lastModifiedBy>
  <cp:revision>19</cp:revision>
  <dcterms:modified xsi:type="dcterms:W3CDTF">2019-04-22T16:51:35Z</dcterms:modified>
</cp:coreProperties>
</file>